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371600"/>
            <a:ext cx="5486400" cy="5486400"/>
          </a:xfrm>
          <a:prstGeom prst="ellipse">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822960"/>
            <a:ext cx="10362895" cy="52120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71600" y="1280160"/>
            <a:ext cx="4114800" cy="38404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369A1"/>
                </a:solidFill>
                <a:latin typeface="Segoe UI"/>
              </a:defRPr>
            </a:pPr>
            <a:r>
              <a:t>SAVDO AGENTLARI VA MENЕJERLAR UCHUN MAXSUS QO'LLANMA</a:t>
            </a:r>
          </a:p>
        </p:txBody>
      </p:sp>
      <p:sp>
        <p:nvSpPr>
          <p:cNvPr id="6" name="TextBox 5"/>
          <p:cNvSpPr txBox="1"/>
          <p:nvPr/>
        </p:nvSpPr>
        <p:spPr>
          <a:xfrm>
            <a:off x="1371600" y="1828800"/>
            <a:ext cx="9418320" cy="2194560"/>
          </a:xfrm>
          <a:prstGeom prst="rect">
            <a:avLst/>
          </a:prstGeom>
          <a:noFill/>
        </p:spPr>
        <p:txBody>
          <a:bodyPr wrap="square" lIns="0" tIns="0" rIns="0" bIns="0">
            <a:spAutoFit/>
          </a:bodyPr>
          <a:lstStyle/>
          <a:p>
            <a:pPr>
              <a:defRPr sz="3600" b="1">
                <a:solidFill>
                  <a:srgbClr val="0284C7"/>
                </a:solidFill>
                <a:latin typeface="Segoe UI"/>
              </a:defRPr>
            </a:pPr>
            <a:r>
              <a:t>E-CODE ERP &amp; POS TIZIMI</a:t>
            </a:r>
          </a:p>
          <a:p>
            <a:pPr>
              <a:spcBef>
                <a:spcPts val="800"/>
              </a:spcBef>
              <a:defRPr sz="2200" b="1">
                <a:solidFill>
                  <a:srgbClr val="0F172A"/>
                </a:solidFill>
                <a:latin typeface="Segoe UI"/>
              </a:defRPr>
            </a:pPr>
            <a:r>
              <a:t>Mijozlarga Dasturni Qanday Oson va Ishonchli Sotish Mumkin?</a:t>
            </a:r>
          </a:p>
          <a:p>
            <a:pPr>
              <a:spcBef>
                <a:spcPts val="1200"/>
              </a:spcBef>
              <a:defRPr sz="1300">
                <a:solidFill>
                  <a:srgbClr val="475569"/>
                </a:solidFill>
                <a:latin typeface="Segoe UI"/>
              </a:defRPr>
            </a:pPr>
            <a:r>
              <a:t>Savdo agentlarining sotuvda qiynalmasligi uchun to'liq shpargalka (Cheat-Sheet): Tariflar taqqoslovi, mijoz og'riqlari, e'tirozlarga professional javoblar va savdoni yopish (closing) texnikalari.</a:t>
            </a:r>
          </a:p>
        </p:txBody>
      </p:sp>
      <p:sp>
        <p:nvSpPr>
          <p:cNvPr id="7" name="Rounded Rectangle 6"/>
          <p:cNvSpPr/>
          <p:nvPr/>
        </p:nvSpPr>
        <p:spPr>
          <a:xfrm>
            <a:off x="1371600" y="4297680"/>
            <a:ext cx="2240280" cy="1188720"/>
          </a:xfrm>
          <a:prstGeom prst="roundRect">
            <a:avLst/>
          </a:prstGeom>
          <a:solidFill>
            <a:srgbClr val="F3F8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369A1"/>
                </a:solidFill>
                <a:latin typeface="Segoe UI"/>
              </a:defRPr>
            </a:pPr>
            <a:r>
              <a:t>🎯 5 Ta Aniq Tarif</a:t>
            </a:r>
          </a:p>
          <a:p>
            <a:pPr algn="ctr">
              <a:spcBef>
                <a:spcPts val="300"/>
              </a:spcBef>
              <a:defRPr sz="950">
                <a:solidFill>
                  <a:srgbClr val="475569"/>
                </a:solidFill>
                <a:latin typeface="Segoe UI"/>
              </a:defRPr>
            </a:pPr>
            <a:r>
              <a:t>99 ming so'mdan boshlab</a:t>
            </a:r>
          </a:p>
        </p:txBody>
      </p:sp>
      <p:sp>
        <p:nvSpPr>
          <p:cNvPr id="8" name="Rounded Rectangle 7"/>
          <p:cNvSpPr/>
          <p:nvPr/>
        </p:nvSpPr>
        <p:spPr>
          <a:xfrm>
            <a:off x="3749039" y="4297680"/>
            <a:ext cx="2240280" cy="1188720"/>
          </a:xfrm>
          <a:prstGeom prst="roundRect">
            <a:avLst/>
          </a:prstGeom>
          <a:solidFill>
            <a:srgbClr val="F3F8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369A1"/>
                </a:solidFill>
                <a:latin typeface="Segoe UI"/>
              </a:defRPr>
            </a:pPr>
            <a:r>
              <a:t>📱 Mobil Agent Ilovasi</a:t>
            </a:r>
          </a:p>
          <a:p>
            <a:pPr algn="ctr">
              <a:spcBef>
                <a:spcPts val="300"/>
              </a:spcBef>
              <a:defRPr sz="950">
                <a:solidFill>
                  <a:srgbClr val="475569"/>
                </a:solidFill>
                <a:latin typeface="Segoe UI"/>
              </a:defRPr>
            </a:pPr>
            <a:r>
              <a:t>GPS va offline buyurtma</a:t>
            </a:r>
          </a:p>
        </p:txBody>
      </p:sp>
      <p:sp>
        <p:nvSpPr>
          <p:cNvPr id="9" name="Rounded Rectangle 8"/>
          <p:cNvSpPr/>
          <p:nvPr/>
        </p:nvSpPr>
        <p:spPr>
          <a:xfrm>
            <a:off x="6126480" y="4297680"/>
            <a:ext cx="2240280" cy="1188720"/>
          </a:xfrm>
          <a:prstGeom prst="roundRect">
            <a:avLst/>
          </a:prstGeom>
          <a:solidFill>
            <a:srgbClr val="F3F8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369A1"/>
                </a:solidFill>
                <a:latin typeface="Segoe UI"/>
              </a:defRPr>
            </a:pPr>
            <a:r>
              <a:t>🛡️ 7 Kun Bepul Test</a:t>
            </a:r>
          </a:p>
          <a:p>
            <a:pPr algn="ctr">
              <a:spcBef>
                <a:spcPts val="300"/>
              </a:spcBef>
              <a:defRPr sz="950">
                <a:solidFill>
                  <a:srgbClr val="475569"/>
                </a:solidFill>
                <a:latin typeface="Segoe UI"/>
              </a:defRPr>
            </a:pPr>
            <a:r>
              <a:t>Xatarsiz oson kirish</a:t>
            </a:r>
          </a:p>
        </p:txBody>
      </p:sp>
      <p:sp>
        <p:nvSpPr>
          <p:cNvPr id="10" name="Rounded Rectangle 9"/>
          <p:cNvSpPr/>
          <p:nvPr/>
        </p:nvSpPr>
        <p:spPr>
          <a:xfrm>
            <a:off x="8503920" y="4297680"/>
            <a:ext cx="2240280" cy="1188720"/>
          </a:xfrm>
          <a:prstGeom prst="roundRect">
            <a:avLst/>
          </a:prstGeom>
          <a:solidFill>
            <a:srgbClr val="F3F8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369A1"/>
                </a:solidFill>
                <a:latin typeface="Segoe UI"/>
              </a:defRPr>
            </a:pPr>
            <a:r>
              <a:t>💬 E'tirozlar Kaliti</a:t>
            </a:r>
          </a:p>
          <a:p>
            <a:pPr algn="ctr">
              <a:spcBef>
                <a:spcPts val="300"/>
              </a:spcBef>
              <a:defRPr sz="950">
                <a:solidFill>
                  <a:srgbClr val="475569"/>
                </a:solidFill>
                <a:latin typeface="Segoe UI"/>
              </a:defRPr>
            </a:pPr>
            <a:r>
              <a:t>Har qanday savolga javob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1. SOTUV PSIXOLOGIYASI</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Tadbirkor Nima Sababdan Dastur Qidiradi? (Mijozning Dardlari)</a:t>
            </a:r>
          </a:p>
          <a:p>
            <a:pPr>
              <a:spcBef>
                <a:spcPts val="400"/>
              </a:spcBef>
              <a:defRPr sz="1200">
                <a:solidFill>
                  <a:srgbClr val="475569"/>
                </a:solidFill>
                <a:latin typeface="Segoe UI"/>
              </a:defRPr>
            </a:pPr>
            <a:r>
              <a:t>Savdo agenti mijoz oldiga borganda dasturning xususiyatlarini emas, uning quyidagi 4 ta og'rig'ini eslatishi kerak:</a:t>
            </a:r>
          </a:p>
        </p:txBody>
      </p:sp>
      <p:sp>
        <p:nvSpPr>
          <p:cNvPr id="6" name="Rounded Rectangle 5"/>
          <p:cNvSpPr/>
          <p:nvPr/>
        </p:nvSpPr>
        <p:spPr>
          <a:xfrm>
            <a:off x="731520" y="1920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1. Nasiya va Qarzlarning Yo'qolishi</a:t>
            </a:r>
          </a:p>
          <a:p>
            <a:pPr>
              <a:spcBef>
                <a:spcPts val="600"/>
              </a:spcBef>
              <a:defRPr sz="1000">
                <a:solidFill>
                  <a:srgbClr val="0F172A"/>
                </a:solidFill>
                <a:latin typeface="Segoe UI"/>
              </a:defRPr>
            </a:pPr>
            <a:r>
              <a:t>🔴 Dard: Qarzlar daftarga yoziladi, daftar yo'qoladi, yirtiladi yoki esdan chiqadi. Mijoz 'men buncha olmaganman' deydi.</a:t>
            </a:r>
            <a:br/>
            <a:br/>
            <a:r>
              <a:t>💡 Bizning Yechim: E-Code har bir xaridorni avtomatik balansi bilan saqlaydi, qarz muddatini ko'rsatadi va Telegram/SMS orqali eslatadi.</a:t>
            </a:r>
          </a:p>
        </p:txBody>
      </p:sp>
      <p:sp>
        <p:nvSpPr>
          <p:cNvPr id="7" name="Rounded Rectangle 6"/>
          <p:cNvSpPr/>
          <p:nvPr/>
        </p:nvSpPr>
        <p:spPr>
          <a:xfrm>
            <a:off x="6172200" y="1920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2. Ombordagi Kamomad va O'g'rilik</a:t>
            </a:r>
          </a:p>
          <a:p>
            <a:pPr>
              <a:spcBef>
                <a:spcPts val="600"/>
              </a:spcBef>
              <a:defRPr sz="1000">
                <a:solidFill>
                  <a:srgbClr val="0F172A"/>
                </a:solidFill>
                <a:latin typeface="Segoe UI"/>
              </a:defRPr>
            </a:pPr>
            <a:r>
              <a:t>🔴 Dard: Qaysi tovardan qancha borligini hech kim bilmaydi. Sotuvchilar yoki omborchilar tovar o'g'irlashi yoki muddati o'tib ketishi mumkin.</a:t>
            </a:r>
            <a:br/>
            <a:br/>
            <a:r>
              <a:t>💡 Bizning Yechim: Real vaqtdagi qoldiq, partiya nazorati, tovar tugashidan oldin ogohlantirish va to'liq audit jurnali.</a:t>
            </a:r>
          </a:p>
        </p:txBody>
      </p:sp>
      <p:sp>
        <p:nvSpPr>
          <p:cNvPr id="8" name="Rounded Rectangle 7"/>
          <p:cNvSpPr/>
          <p:nvPr/>
        </p:nvSpPr>
        <p:spPr>
          <a:xfrm>
            <a:off x="731520" y="4206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3. Savdo Agentlari Ustidan Nazorat Yo'qligi</a:t>
            </a:r>
          </a:p>
          <a:p>
            <a:pPr>
              <a:spcBef>
                <a:spcPts val="600"/>
              </a:spcBef>
              <a:defRPr sz="1000">
                <a:solidFill>
                  <a:srgbClr val="0F172A"/>
                </a:solidFill>
                <a:latin typeface="Segoe UI"/>
              </a:defRPr>
            </a:pPr>
            <a:r>
              <a:t>🔴 Dard: Ish beruvchi agenti qaysi do'konga kirdi, ko'chada bekor yuribdimi yoki haqiqatan buyurtma olyaptimi — bilolmaydi.</a:t>
            </a:r>
            <a:br/>
            <a:br/>
            <a:r>
              <a:t>💡 Bizning Yechim: E-Code Mobile Agent: GPS geolokatsiya, do'kon eshigi oldida buyurtma kiritish, xarita orqali jonli marshrut nazorati.</a:t>
            </a:r>
          </a:p>
        </p:txBody>
      </p:sp>
      <p:sp>
        <p:nvSpPr>
          <p:cNvPr id="9" name="Rounded Rectangle 8"/>
          <p:cNvSpPr/>
          <p:nvPr/>
        </p:nvSpPr>
        <p:spPr>
          <a:xfrm>
            <a:off x="6172200" y="4206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4. Kassadagi Tartibsizlik va Soxta Foyda</a:t>
            </a:r>
          </a:p>
          <a:p>
            <a:pPr>
              <a:spcBef>
                <a:spcPts val="600"/>
              </a:spcBef>
              <a:defRPr sz="1000">
                <a:solidFill>
                  <a:srgbClr val="0F172A"/>
                </a:solidFill>
                <a:latin typeface="Segoe UI"/>
              </a:defRPr>
            </a:pPr>
            <a:r>
              <a:t>🔴 Dard: Kun oxirida kassada pul bor, lekin uning qanchasi sof foyda, qanchasi tushum, qanchasi nasiya — rahbar uchun qorong'ulik.</a:t>
            </a:r>
            <a:br/>
            <a:br/>
            <a:r>
              <a:t>💡 Bizning Yechim: Bir zumda P&amp;L hisoboti, kunlik sof foyda, tushum va xarajatlar to'g'ridan-to'g'ri rahbarning Telegram botiga boradi.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2. MAHSULOT KUCHLI TOMONLARI</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E-Code ERP — Savdo va Biznesni Cho'ntakdan Boshqarish</a:t>
            </a:r>
          </a:p>
          <a:p>
            <a:pPr>
              <a:spcBef>
                <a:spcPts val="400"/>
              </a:spcBef>
              <a:defRPr sz="1200">
                <a:solidFill>
                  <a:srgbClr val="475569"/>
                </a:solidFill>
                <a:latin typeface="Segoe UI"/>
              </a:defRPr>
            </a:pPr>
            <a:r>
              <a:t>Har qanday chakana, ulgurji yoki distribyutsiya biznesini 100% avtomatlashtiruvchi zamonaviy ekotizim:</a:t>
            </a:r>
          </a:p>
        </p:txBody>
      </p:sp>
      <p:sp>
        <p:nvSpPr>
          <p:cNvPr id="6" name="Rounded Rectangle 5"/>
          <p:cNvSpPr/>
          <p:nvPr/>
        </p:nvSpPr>
        <p:spPr>
          <a:xfrm>
            <a:off x="731520" y="1920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284C7"/>
                </a:solidFill>
                <a:latin typeface="Segoe UI"/>
              </a:defRPr>
            </a:pPr>
            <a:r>
              <a:t>🛒 Tezkor POS Kassa</a:t>
            </a:r>
          </a:p>
          <a:p>
            <a:pPr>
              <a:spcBef>
                <a:spcPts val="600"/>
              </a:spcBef>
              <a:defRPr sz="1000">
                <a:solidFill>
                  <a:srgbClr val="0F172A"/>
                </a:solidFill>
                <a:latin typeface="Segoe UI"/>
              </a:defRPr>
            </a:pPr>
            <a:r>
              <a:t>• Har qanday shtrix-kod skaner va chek printerlar bilan ishlaydi</a:t>
            </a:r>
            <a:br/>
            <a:r>
              <a:t>• Aralash to'lovlar: Naqd, Humo, Uzcard, Nasiya (Qarz), O'tkazma</a:t>
            </a:r>
            <a:br/>
            <a:r>
              <a:t>• Internet uzilib qolsa ham uzluksiz offline rejimda ishlaydi</a:t>
            </a:r>
            <a:br/>
            <a:r>
              <a:t>• Kassa smenalari, Z-hisobot va kassir kamomadini yo'qotadi</a:t>
            </a:r>
          </a:p>
        </p:txBody>
      </p:sp>
      <p:sp>
        <p:nvSpPr>
          <p:cNvPr id="7" name="Rounded Rectangle 6"/>
          <p:cNvSpPr/>
          <p:nvPr/>
        </p:nvSpPr>
        <p:spPr>
          <a:xfrm>
            <a:off x="6172200" y="1920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284C7"/>
                </a:solidFill>
                <a:latin typeface="Segoe UI"/>
              </a:defRPr>
            </a:pPr>
            <a:r>
              <a:t>📦 Mukammal Ombor Nazorati</a:t>
            </a:r>
          </a:p>
          <a:p>
            <a:pPr>
              <a:spcBef>
                <a:spcPts val="600"/>
              </a:spcBef>
              <a:defRPr sz="1000">
                <a:solidFill>
                  <a:srgbClr val="0F172A"/>
                </a:solidFill>
                <a:latin typeface="Segoe UI"/>
              </a:defRPr>
            </a:pPr>
            <a:r>
              <a:t>• Real vaqtdagi aniq tovar qoldig'i va tannarx hisobi</a:t>
            </a:r>
            <a:br/>
            <a:r>
              <a:t>• Tovarlarni Excel orqali 1 daqiqada ommaviy yuklash</a:t>
            </a:r>
            <a:br/>
            <a:r>
              <a:t>• Minimal qoldiq ogohlantirishlari (tovar tugamasidan xabar beradi)</a:t>
            </a:r>
            <a:br/>
            <a:r>
              <a:t>• Filiallar o'rtasida tovar ko'chirish va ortiqcha xarajatlarni qisqartirish</a:t>
            </a:r>
          </a:p>
        </p:txBody>
      </p:sp>
      <p:sp>
        <p:nvSpPr>
          <p:cNvPr id="8" name="Rounded Rectangle 7"/>
          <p:cNvSpPr/>
          <p:nvPr/>
        </p:nvSpPr>
        <p:spPr>
          <a:xfrm>
            <a:off x="731520" y="4206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284C7"/>
                </a:solidFill>
                <a:latin typeface="Segoe UI"/>
              </a:defRPr>
            </a:pPr>
            <a:r>
              <a:t>🛵 Mobil Agent &amp; Logistika</a:t>
            </a:r>
          </a:p>
          <a:p>
            <a:pPr>
              <a:spcBef>
                <a:spcPts val="600"/>
              </a:spcBef>
              <a:defRPr sz="1000">
                <a:solidFill>
                  <a:srgbClr val="0F172A"/>
                </a:solidFill>
                <a:latin typeface="Segoe UI"/>
              </a:defRPr>
            </a:pPr>
            <a:r>
              <a:t>• Savdo agentlari uchun maxsus Android mobil ilova</a:t>
            </a:r>
            <a:br/>
            <a:r>
              <a:t>• Do'konga kirib joyida zakaz olish va qarzini ko'rish</a:t>
            </a:r>
            <a:br/>
            <a:r>
              <a:t>• GPS nazorat: xaritada agentning har bir harakati va marshruti</a:t>
            </a:r>
            <a:br/>
            <a:r>
              <a:t>• Kuryer ilovasi orqali yetkazilgan buyurtmani avto-sotuvga aylantirish</a:t>
            </a:r>
          </a:p>
        </p:txBody>
      </p:sp>
      <p:sp>
        <p:nvSpPr>
          <p:cNvPr id="9" name="Rounded Rectangle 8"/>
          <p:cNvSpPr/>
          <p:nvPr/>
        </p:nvSpPr>
        <p:spPr>
          <a:xfrm>
            <a:off x="6172200" y="4206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284C7"/>
                </a:solidFill>
                <a:latin typeface="Segoe UI"/>
              </a:defRPr>
            </a:pPr>
            <a:r>
              <a:t>📊 Rahbar Uchun Analitika &amp; Bot</a:t>
            </a:r>
          </a:p>
          <a:p>
            <a:pPr>
              <a:spcBef>
                <a:spcPts val="600"/>
              </a:spcBef>
              <a:defRPr sz="1000">
                <a:solidFill>
                  <a:srgbClr val="0F172A"/>
                </a:solidFill>
                <a:latin typeface="Segoe UI"/>
              </a:defRPr>
            </a:pPr>
            <a:r>
              <a:t>• Dunyoning istalgan nuqtasidan telefon orqali to'liq nazorat</a:t>
            </a:r>
            <a:br/>
            <a:r>
              <a:t>• Telegram Bot: Har kuni kechki tushum, sof foyda va kassa balansi</a:t>
            </a:r>
            <a:br/>
            <a:r>
              <a:t>• P&amp;L (Daromad va Zarar) hisoboti bir tugma bilan tayyorlanadi</a:t>
            </a:r>
            <a:br/>
            <a:r>
              <a:t>• O'zbek tilida (Lotin va Kirill), qulay va sodda interfeys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3. DISTRIBYUTSIYA KUCHAYTIRGICHI</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E-Code Mobile Agent: Distribyutsiyani Sotishdagi Bosh Kozir</a:t>
            </a:r>
          </a:p>
          <a:p>
            <a:pPr>
              <a:spcBef>
                <a:spcPts val="400"/>
              </a:spcBef>
              <a:defRPr sz="1200">
                <a:solidFill>
                  <a:srgbClr val="475569"/>
                </a:solidFill>
                <a:latin typeface="Segoe UI"/>
              </a:defRPr>
            </a:pPr>
            <a:r>
              <a:t>Distribyutor va ulgurji savdogarlarga dastur sotganda aynan mana shu mobil imkoniyatlarni ko'rsating:</a:t>
            </a:r>
          </a:p>
        </p:txBody>
      </p:sp>
      <p:sp>
        <p:nvSpPr>
          <p:cNvPr id="6" name="Rounded Rectangle 5"/>
          <p:cNvSpPr/>
          <p:nvPr/>
        </p:nvSpPr>
        <p:spPr>
          <a:xfrm>
            <a:off x="731520" y="1874519"/>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1. Jonli GPS Nazorati</a:t>
            </a:r>
          </a:p>
          <a:p>
            <a:pPr>
              <a:spcBef>
                <a:spcPts val="200"/>
              </a:spcBef>
              <a:defRPr sz="950">
                <a:solidFill>
                  <a:srgbClr val="0F172A"/>
                </a:solidFill>
                <a:latin typeface="Segoe UI"/>
              </a:defRPr>
            </a:pPr>
            <a:r>
              <a:t>Rahbar o'z kabinetida savdo agenti hozir qayerda yurganini, qaysi do'konga soat nechada kirganini va qancha vaqt qolganini xaritada ko'rib turadi. Agent ish vaqtida boshqa ishlar bilan shug'ullana olmaydi.</a:t>
            </a:r>
          </a:p>
        </p:txBody>
      </p:sp>
      <p:sp>
        <p:nvSpPr>
          <p:cNvPr id="7" name="Rounded Rectangle 6"/>
          <p:cNvSpPr/>
          <p:nvPr/>
        </p:nvSpPr>
        <p:spPr>
          <a:xfrm>
            <a:off x="731520" y="2807208"/>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2. Joyida Buyurtma Olish (Pre-selling)</a:t>
            </a:r>
          </a:p>
          <a:p>
            <a:pPr>
              <a:spcBef>
                <a:spcPts val="200"/>
              </a:spcBef>
              <a:defRPr sz="950">
                <a:solidFill>
                  <a:srgbClr val="0F172A"/>
                </a:solidFill>
                <a:latin typeface="Segoe UI"/>
              </a:defRPr>
            </a:pPr>
            <a:r>
              <a:t>Agent mijoz do'koniga kiradi, telefonidagi ilovadan tovarlar qoldig'ini, narxini va aksiyalarini ko'rsatib, 1 daqiqada zakaz shakllantiradi. Buyurtma shu zahotiyoq markaziy omborga tushadi.</a:t>
            </a:r>
          </a:p>
        </p:txBody>
      </p:sp>
      <p:sp>
        <p:nvSpPr>
          <p:cNvPr id="8" name="Rounded Rectangle 7"/>
          <p:cNvSpPr/>
          <p:nvPr/>
        </p:nvSpPr>
        <p:spPr>
          <a:xfrm>
            <a:off x="731520" y="3739896"/>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3. Mijozning Eski Qarzini Joyida Ko'rish</a:t>
            </a:r>
          </a:p>
          <a:p>
            <a:pPr>
              <a:spcBef>
                <a:spcPts val="200"/>
              </a:spcBef>
              <a:defRPr sz="950">
                <a:solidFill>
                  <a:srgbClr val="0F172A"/>
                </a:solidFill>
                <a:latin typeface="Segoe UI"/>
              </a:defRPr>
            </a:pPr>
            <a:r>
              <a:t>Ilovada har bir do'konning oxirgi xaridlari, to'lovlari va aniq qarzi ko'rinadi. Agent joyida pul undirib, kvitansiya chiqarishi yoki kassa kirimini kiritishi mumkin.</a:t>
            </a:r>
          </a:p>
        </p:txBody>
      </p:sp>
      <p:sp>
        <p:nvSpPr>
          <p:cNvPr id="9" name="Rounded Rectangle 8"/>
          <p:cNvSpPr/>
          <p:nvPr/>
        </p:nvSpPr>
        <p:spPr>
          <a:xfrm>
            <a:off x="731520" y="4672583"/>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4. Internet Yo'q Joyda Ham Ishlaydi (Offline)</a:t>
            </a:r>
          </a:p>
          <a:p>
            <a:pPr>
              <a:spcBef>
                <a:spcPts val="200"/>
              </a:spcBef>
              <a:defRPr sz="950">
                <a:solidFill>
                  <a:srgbClr val="0F172A"/>
                </a:solidFill>
                <a:latin typeface="Segoe UI"/>
              </a:defRPr>
            </a:pPr>
            <a:r>
              <a:t>Podval yoki chekka hududlarda internet bo'lmasa ham ilova to'xtamaydi. Buyurtmalar saqlanadi va internet paydo bo'lishi bilan tizimga avtomatik jo'natiladi.</a:t>
            </a:r>
          </a:p>
        </p:txBody>
      </p:sp>
      <p:sp>
        <p:nvSpPr>
          <p:cNvPr id="10" name="Rounded Rectangle 9"/>
          <p:cNvSpPr/>
          <p:nvPr/>
        </p:nvSpPr>
        <p:spPr>
          <a:xfrm>
            <a:off x="731520" y="5605272"/>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5. Kuryer va Yetkazib Berish Integratsiyasi</a:t>
            </a:r>
          </a:p>
          <a:p>
            <a:pPr>
              <a:spcBef>
                <a:spcPts val="200"/>
              </a:spcBef>
              <a:defRPr sz="950">
                <a:solidFill>
                  <a:srgbClr val="0F172A"/>
                </a:solidFill>
                <a:latin typeface="Segoe UI"/>
              </a:defRPr>
            </a:pPr>
            <a:r>
              <a:t>Agent olgan buyurtma avtomatik haydovchi / kuryer rejasiga tushadi. Kuryer tovarni topshirgach, do'kon balansi va kassa avtomatik yangilanadi.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4. NARXLAR VA TARIFLAR</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Tariflar Matritsasi: Har Qanday Hajmdagi Biznesga Mos Yechim</a:t>
            </a:r>
          </a:p>
          <a:p>
            <a:pPr>
              <a:spcBef>
                <a:spcPts val="400"/>
              </a:spcBef>
              <a:defRPr sz="1200">
                <a:solidFill>
                  <a:srgbClr val="475569"/>
                </a:solidFill>
                <a:latin typeface="Segoe UI"/>
              </a:defRPr>
            </a:pPr>
            <a:r>
              <a:t>Barcha narxlar BHM (440,000 so'm) ulushiga bog'langan bo'lib, O'zbekiston bozorida eng qulay hisoblanadi:</a:t>
            </a:r>
          </a:p>
        </p:txBody>
      </p:sp>
      <p:graphicFrame>
        <p:nvGraphicFramePr>
          <p:cNvPr id="6" name="Table 5"/>
          <p:cNvGraphicFramePr>
            <a:graphicFrameLocks noGrp="1"/>
          </p:cNvGraphicFramePr>
          <p:nvPr/>
        </p:nvGraphicFramePr>
        <p:xfrm>
          <a:off x="731520" y="1920240"/>
          <a:ext cx="10728655" cy="4114800"/>
        </p:xfrm>
        <a:graphic>
          <a:graphicData uri="http://schemas.openxmlformats.org/drawingml/2006/table">
            <a:tbl>
              <a:tblPr firstRow="1" bandRow="1">
                <a:tableStyleId>{5C22544A-7EE6-4342-B048-85BDC9FD1C3A}</a:tableStyleId>
              </a:tblPr>
              <a:tblGrid>
                <a:gridCol w="2011680"/>
                <a:gridCol w="1645920"/>
                <a:gridCol w="1645920"/>
                <a:gridCol w="1645920"/>
                <a:gridCol w="1920240"/>
                <a:gridCol w="1858975"/>
              </a:tblGrid>
              <a:tr h="685800">
                <a:tc>
                  <a:txBody>
                    <a:bodyPr wrap="square"/>
                    <a:lstStyle/>
                    <a:p>
                      <a:pPr algn="ctr">
                        <a:defRPr sz="1100" b="1">
                          <a:solidFill>
                            <a:srgbClr val="FFFFFF"/>
                          </a:solidFill>
                          <a:latin typeface="Segoe UI"/>
                        </a:defRPr>
                      </a:pPr>
                      <a:r>
                        <a:t>Tarif Nomi</a:t>
                      </a:r>
                    </a:p>
                  </a:txBody>
                  <a:tcPr>
                    <a:solidFill>
                      <a:srgbClr val="0284C7"/>
                    </a:solidFill>
                  </a:tcPr>
                </a:tc>
                <a:tc>
                  <a:txBody>
                    <a:bodyPr wrap="square"/>
                    <a:lstStyle/>
                    <a:p>
                      <a:pPr algn="ctr">
                        <a:defRPr sz="1100" b="1">
                          <a:solidFill>
                            <a:srgbClr val="FFFFFF"/>
                          </a:solidFill>
                          <a:latin typeface="Segoe UI"/>
                        </a:defRPr>
                      </a:pPr>
                      <a:r>
                        <a:t>Oylik Narxi</a:t>
                      </a:r>
                    </a:p>
                  </a:txBody>
                  <a:tcPr>
                    <a:solidFill>
                      <a:srgbClr val="0284C7"/>
                    </a:solidFill>
                  </a:tcPr>
                </a:tc>
                <a:tc>
                  <a:txBody>
                    <a:bodyPr wrap="square"/>
                    <a:lstStyle/>
                    <a:p>
                      <a:pPr algn="ctr">
                        <a:defRPr sz="1100" b="1">
                          <a:solidFill>
                            <a:srgbClr val="FFFFFF"/>
                          </a:solidFill>
                          <a:latin typeface="Segoe UI"/>
                        </a:defRPr>
                      </a:pPr>
                      <a:r>
                        <a:t>Tovar Limiti</a:t>
                      </a:r>
                    </a:p>
                  </a:txBody>
                  <a:tcPr>
                    <a:solidFill>
                      <a:srgbClr val="0284C7"/>
                    </a:solidFill>
                  </a:tcPr>
                </a:tc>
                <a:tc>
                  <a:txBody>
                    <a:bodyPr wrap="square"/>
                    <a:lstStyle/>
                    <a:p>
                      <a:pPr algn="ctr">
                        <a:defRPr sz="1100" b="1">
                          <a:solidFill>
                            <a:srgbClr val="FFFFFF"/>
                          </a:solidFill>
                          <a:latin typeface="Segoe UI"/>
                        </a:defRPr>
                      </a:pPr>
                      <a:r>
                        <a:t>Xodim / Filial</a:t>
                      </a:r>
                    </a:p>
                  </a:txBody>
                  <a:tcPr>
                    <a:solidFill>
                      <a:srgbClr val="0284C7"/>
                    </a:solidFill>
                  </a:tcPr>
                </a:tc>
                <a:tc>
                  <a:txBody>
                    <a:bodyPr wrap="square"/>
                    <a:lstStyle/>
                    <a:p>
                      <a:pPr algn="ctr">
                        <a:defRPr sz="1100" b="1">
                          <a:solidFill>
                            <a:srgbClr val="FFFFFF"/>
                          </a:solidFill>
                          <a:latin typeface="Segoe UI"/>
                        </a:defRPr>
                      </a:pPr>
                      <a:r>
                        <a:t>Agent &amp; Kuryer</a:t>
                      </a:r>
                    </a:p>
                  </a:txBody>
                  <a:tcPr>
                    <a:solidFill>
                      <a:srgbClr val="0284C7"/>
                    </a:solidFill>
                  </a:tcPr>
                </a:tc>
                <a:tc>
                  <a:txBody>
                    <a:bodyPr wrap="square"/>
                    <a:lstStyle/>
                    <a:p>
                      <a:pPr algn="ctr">
                        <a:defRPr sz="1100" b="1">
                          <a:solidFill>
                            <a:srgbClr val="FFFFFF"/>
                          </a:solidFill>
                          <a:latin typeface="Segoe UI"/>
                        </a:defRPr>
                      </a:pPr>
                      <a:r>
                        <a:t>Qo'shimcha Modullar</a:t>
                      </a:r>
                    </a:p>
                  </a:txBody>
                  <a:tcPr>
                    <a:solidFill>
                      <a:srgbClr val="0284C7"/>
                    </a:solidFill>
                  </a:tcPr>
                </a:tc>
              </a:tr>
              <a:tr h="685800">
                <a:tc>
                  <a:txBody>
                    <a:bodyPr wrap="square" lIns="73152" rIns="73152"/>
                    <a:lstStyle/>
                    <a:p>
                      <a:pPr algn="ctr">
                        <a:defRPr sz="1000" b="1">
                          <a:solidFill>
                            <a:srgbClr val="0284C7"/>
                          </a:solidFill>
                          <a:latin typeface="Segoe UI"/>
                        </a:defRPr>
                      </a:pPr>
                      <a:r>
                        <a:t>🆓 Bepul (Start)</a:t>
                      </a:r>
                    </a:p>
                  </a:txBody>
                  <a:tcPr>
                    <a:solidFill>
                      <a:srgbClr val="F3F8FF"/>
                    </a:solidFill>
                  </a:tcPr>
                </a:tc>
                <a:tc>
                  <a:txBody>
                    <a:bodyPr wrap="square" lIns="73152" rIns="73152"/>
                    <a:lstStyle/>
                    <a:p>
                      <a:pPr algn="ctr">
                        <a:defRPr sz="1000" b="1">
                          <a:solidFill>
                            <a:srgbClr val="0F172A"/>
                          </a:solidFill>
                          <a:latin typeface="Segoe UI"/>
                        </a:defRPr>
                      </a:pPr>
                      <a:r>
                        <a:t>0 so'm / 7 kun</a:t>
                      </a:r>
                      <a:br/>
                      <a:r>
                        <a:t>(To'liq bepul)</a:t>
                      </a:r>
                    </a:p>
                  </a:txBody>
                  <a:tcPr>
                    <a:solidFill>
                      <a:srgbClr val="F3F8FF"/>
                    </a:solidFill>
                  </a:tcPr>
                </a:tc>
                <a:tc>
                  <a:txBody>
                    <a:bodyPr wrap="square" lIns="73152" rIns="73152"/>
                    <a:lstStyle/>
                    <a:p>
                      <a:pPr algn="ctr">
                        <a:defRPr sz="1000" b="1">
                          <a:solidFill>
                            <a:srgbClr val="0369A1"/>
                          </a:solidFill>
                          <a:latin typeface="Segoe UI"/>
                        </a:defRPr>
                      </a:pPr>
                      <a:r>
                        <a:t>Cheksiz</a:t>
                      </a:r>
                    </a:p>
                  </a:txBody>
                  <a:tcPr>
                    <a:solidFill>
                      <a:srgbClr val="F3F8FF"/>
                    </a:solidFill>
                  </a:tcPr>
                </a:tc>
                <a:tc>
                  <a:txBody>
                    <a:bodyPr wrap="square" lIns="73152" rIns="73152"/>
                    <a:lstStyle/>
                    <a:p>
                      <a:pPr algn="ctr">
                        <a:defRPr sz="1000">
                          <a:solidFill>
                            <a:srgbClr val="0F172A"/>
                          </a:solidFill>
                          <a:latin typeface="Segoe UI"/>
                        </a:defRPr>
                      </a:pPr>
                      <a:r>
                        <a:t>5 xodim</a:t>
                      </a:r>
                      <a:br/>
                      <a:r>
                        <a:t>1 filial</a:t>
                      </a:r>
                    </a:p>
                  </a:txBody>
                  <a:tcPr>
                    <a:solidFill>
                      <a:srgbClr val="F3F8FF"/>
                    </a:solidFill>
                  </a:tcPr>
                </a:tc>
                <a:tc>
                  <a:txBody>
                    <a:bodyPr wrap="square" lIns="73152" rIns="73152"/>
                    <a:lstStyle/>
                    <a:p>
                      <a:pPr algn="ctr">
                        <a:defRPr sz="1000">
                          <a:solidFill>
                            <a:srgbClr val="0F172A"/>
                          </a:solidFill>
                          <a:latin typeface="Segoe UI"/>
                        </a:defRPr>
                      </a:pPr>
                      <a:r>
                        <a:t>0 ta / 0 ta</a:t>
                      </a:r>
                    </a:p>
                  </a:txBody>
                  <a:tcPr>
                    <a:solidFill>
                      <a:srgbClr val="F3F8FF"/>
                    </a:solidFill>
                  </a:tcPr>
                </a:tc>
                <a:tc>
                  <a:txBody>
                    <a:bodyPr wrap="square" lIns="73152" rIns="73152"/>
                    <a:lstStyle/>
                    <a:p>
                      <a:pPr algn="l">
                        <a:defRPr sz="1000">
                          <a:solidFill>
                            <a:srgbClr val="0F172A"/>
                          </a:solidFill>
                          <a:latin typeface="Segoe UI"/>
                        </a:defRPr>
                      </a:pPr>
                      <a:r>
                        <a:t>Tizimni xatarsiz sinash uchun eng yaxshi vosita</a:t>
                      </a:r>
                    </a:p>
                  </a:txBody>
                  <a:tcPr>
                    <a:solidFill>
                      <a:srgbClr val="F3F8FF"/>
                    </a:solidFill>
                  </a:tcPr>
                </a:tc>
              </a:tr>
              <a:tr h="685800">
                <a:tc>
                  <a:txBody>
                    <a:bodyPr wrap="square" lIns="73152" rIns="73152"/>
                    <a:lstStyle/>
                    <a:p>
                      <a:pPr algn="ctr">
                        <a:defRPr sz="1000" b="1">
                          <a:solidFill>
                            <a:srgbClr val="0284C7"/>
                          </a:solidFill>
                          <a:latin typeface="Segoe UI"/>
                        </a:defRPr>
                      </a:pPr>
                      <a:r>
                        <a:t>🏪 Mini (Kichik do'kon)</a:t>
                      </a:r>
                    </a:p>
                  </a:txBody>
                  <a:tcPr>
                    <a:solidFill>
                      <a:srgbClr val="FFFFFF"/>
                    </a:solidFill>
                  </a:tcPr>
                </a:tc>
                <a:tc>
                  <a:txBody>
                    <a:bodyPr wrap="square" lIns="73152" rIns="73152"/>
                    <a:lstStyle/>
                    <a:p>
                      <a:pPr algn="ctr">
                        <a:defRPr sz="1000" b="1">
                          <a:solidFill>
                            <a:srgbClr val="0F172A"/>
                          </a:solidFill>
                          <a:latin typeface="Segoe UI"/>
                        </a:defRPr>
                      </a:pPr>
                      <a:r>
                        <a:t>99,880 so'm/oy</a:t>
                      </a:r>
                      <a:br/>
                      <a:r>
                        <a:t>(BHM 22.7%)</a:t>
                      </a:r>
                    </a:p>
                  </a:txBody>
                  <a:tcPr>
                    <a:solidFill>
                      <a:srgbClr val="FFFFFF"/>
                    </a:solidFill>
                  </a:tcPr>
                </a:tc>
                <a:tc>
                  <a:txBody>
                    <a:bodyPr wrap="square" lIns="73152" rIns="73152"/>
                    <a:lstStyle/>
                    <a:p>
                      <a:pPr algn="ctr">
                        <a:defRPr sz="1000">
                          <a:solidFill>
                            <a:srgbClr val="0F172A"/>
                          </a:solidFill>
                          <a:latin typeface="Segoe UI"/>
                        </a:defRPr>
                      </a:pPr>
                      <a:r>
                        <a:t>700 ta shtrix-kod</a:t>
                      </a:r>
                    </a:p>
                  </a:txBody>
                  <a:tcPr>
                    <a:solidFill>
                      <a:srgbClr val="FFFFFF"/>
                    </a:solidFill>
                  </a:tcPr>
                </a:tc>
                <a:tc>
                  <a:txBody>
                    <a:bodyPr wrap="square" lIns="73152" rIns="73152"/>
                    <a:lstStyle/>
                    <a:p>
                      <a:pPr algn="ctr">
                        <a:defRPr sz="1000">
                          <a:solidFill>
                            <a:srgbClr val="0F172A"/>
                          </a:solidFill>
                          <a:latin typeface="Segoe UI"/>
                        </a:defRPr>
                      </a:pPr>
                      <a:r>
                        <a:t>1 xodim</a:t>
                      </a:r>
                      <a:br/>
                      <a:r>
                        <a:t>1 filial</a:t>
                      </a:r>
                    </a:p>
                  </a:txBody>
                  <a:tcPr>
                    <a:solidFill>
                      <a:srgbClr val="FFFFFF"/>
                    </a:solidFill>
                  </a:tcPr>
                </a:tc>
                <a:tc>
                  <a:txBody>
                    <a:bodyPr wrap="square" lIns="73152" rIns="73152"/>
                    <a:lstStyle/>
                    <a:p>
                      <a:pPr algn="ctr">
                        <a:defRPr sz="1000">
                          <a:solidFill>
                            <a:srgbClr val="0F172A"/>
                          </a:solidFill>
                          <a:latin typeface="Segoe UI"/>
                        </a:defRPr>
                      </a:pPr>
                      <a:r>
                        <a:t>0 ta / 0 ta</a:t>
                      </a:r>
                    </a:p>
                  </a:txBody>
                  <a:tcPr>
                    <a:solidFill>
                      <a:srgbClr val="FFFFFF"/>
                    </a:solidFill>
                  </a:tcPr>
                </a:tc>
                <a:tc>
                  <a:txBody>
                    <a:bodyPr wrap="square" lIns="73152" rIns="73152"/>
                    <a:lstStyle/>
                    <a:p>
                      <a:pPr algn="l">
                        <a:defRPr sz="1000">
                          <a:solidFill>
                            <a:srgbClr val="0F172A"/>
                          </a:solidFill>
                          <a:latin typeface="Segoe UI"/>
                        </a:defRPr>
                      </a:pPr>
                      <a:r>
                        <a:t>Kichik do'kon, minimarket va chakana savdo nuqtalari</a:t>
                      </a:r>
                    </a:p>
                  </a:txBody>
                  <a:tcPr>
                    <a:solidFill>
                      <a:srgbClr val="FFFFFF"/>
                    </a:solidFill>
                  </a:tcPr>
                </a:tc>
              </a:tr>
              <a:tr h="685800">
                <a:tc>
                  <a:txBody>
                    <a:bodyPr wrap="square" lIns="73152" rIns="73152"/>
                    <a:lstStyle/>
                    <a:p>
                      <a:pPr algn="ctr">
                        <a:defRPr sz="1000" b="1">
                          <a:solidFill>
                            <a:srgbClr val="0284C7"/>
                          </a:solidFill>
                          <a:latin typeface="Segoe UI"/>
                        </a:defRPr>
                      </a:pPr>
                      <a:r>
                        <a:t>⚡ Boshlang'ich (Start)</a:t>
                      </a:r>
                    </a:p>
                  </a:txBody>
                  <a:tcPr>
                    <a:solidFill>
                      <a:srgbClr val="F3F8FF"/>
                    </a:solidFill>
                  </a:tcPr>
                </a:tc>
                <a:tc>
                  <a:txBody>
                    <a:bodyPr wrap="square" lIns="73152" rIns="73152"/>
                    <a:lstStyle/>
                    <a:p>
                      <a:pPr algn="ctr">
                        <a:defRPr sz="1000" b="1">
                          <a:solidFill>
                            <a:srgbClr val="0F172A"/>
                          </a:solidFill>
                          <a:latin typeface="Segoe UI"/>
                        </a:defRPr>
                      </a:pPr>
                      <a:r>
                        <a:t>198,000 so'm/oy</a:t>
                      </a:r>
                      <a:br/>
                      <a:r>
                        <a:t>(BHM 45%)</a:t>
                      </a:r>
                    </a:p>
                  </a:txBody>
                  <a:tcPr>
                    <a:solidFill>
                      <a:srgbClr val="F3F8FF"/>
                    </a:solidFill>
                  </a:tcPr>
                </a:tc>
                <a:tc>
                  <a:txBody>
                    <a:bodyPr wrap="square" lIns="73152" rIns="73152"/>
                    <a:lstStyle/>
                    <a:p>
                      <a:pPr algn="ctr">
                        <a:defRPr sz="1000" b="1">
                          <a:solidFill>
                            <a:srgbClr val="0369A1"/>
                          </a:solidFill>
                          <a:latin typeface="Segoe UI"/>
                        </a:defRPr>
                      </a:pPr>
                      <a:r>
                        <a:t>Cheksiz</a:t>
                      </a:r>
                    </a:p>
                  </a:txBody>
                  <a:tcPr>
                    <a:solidFill>
                      <a:srgbClr val="F3F8FF"/>
                    </a:solidFill>
                  </a:tcPr>
                </a:tc>
                <a:tc>
                  <a:txBody>
                    <a:bodyPr wrap="square" lIns="73152" rIns="73152"/>
                    <a:lstStyle/>
                    <a:p>
                      <a:pPr algn="ctr">
                        <a:defRPr sz="1000">
                          <a:solidFill>
                            <a:srgbClr val="0F172A"/>
                          </a:solidFill>
                          <a:latin typeface="Segoe UI"/>
                        </a:defRPr>
                      </a:pPr>
                      <a:r>
                        <a:t>5 xodim</a:t>
                      </a:r>
                      <a:br/>
                      <a:r>
                        <a:t>1 filial</a:t>
                      </a:r>
                    </a:p>
                  </a:txBody>
                  <a:tcPr>
                    <a:solidFill>
                      <a:srgbClr val="F3F8FF"/>
                    </a:solidFill>
                  </a:tcPr>
                </a:tc>
                <a:tc>
                  <a:txBody>
                    <a:bodyPr wrap="square" lIns="73152" rIns="73152"/>
                    <a:lstStyle/>
                    <a:p>
                      <a:pPr algn="ctr">
                        <a:defRPr sz="1000">
                          <a:solidFill>
                            <a:srgbClr val="0F172A"/>
                          </a:solidFill>
                          <a:latin typeface="Segoe UI"/>
                        </a:defRPr>
                      </a:pPr>
                      <a:r>
                        <a:t>0 ta / 0 ta</a:t>
                      </a:r>
                    </a:p>
                  </a:txBody>
                  <a:tcPr>
                    <a:solidFill>
                      <a:srgbClr val="F3F8FF"/>
                    </a:solidFill>
                  </a:tcPr>
                </a:tc>
                <a:tc>
                  <a:txBody>
                    <a:bodyPr wrap="square" lIns="73152" rIns="73152"/>
                    <a:lstStyle/>
                    <a:p>
                      <a:pPr algn="l">
                        <a:defRPr sz="1000">
                          <a:solidFill>
                            <a:srgbClr val="0F172A"/>
                          </a:solidFill>
                          <a:latin typeface="Segoe UI"/>
                        </a:defRPr>
                      </a:pPr>
                      <a:r>
                        <a:t>O'rtacha do'konlar, xo'jalik mollari, supermarketlar</a:t>
                      </a:r>
                    </a:p>
                  </a:txBody>
                  <a:tcPr>
                    <a:solidFill>
                      <a:srgbClr val="F3F8FF"/>
                    </a:solidFill>
                  </a:tcPr>
                </a:tc>
              </a:tr>
              <a:tr h="685800">
                <a:tc>
                  <a:txBody>
                    <a:bodyPr wrap="square" lIns="73152" rIns="73152"/>
                    <a:lstStyle/>
                    <a:p>
                      <a:pPr algn="ctr">
                        <a:defRPr sz="1000" b="1">
                          <a:solidFill>
                            <a:srgbClr val="0284C7"/>
                          </a:solidFill>
                          <a:latin typeface="Segoe UI"/>
                        </a:defRPr>
                      </a:pPr>
                      <a:r>
                        <a:t>👑 Pro (VIP)</a:t>
                      </a:r>
                    </a:p>
                  </a:txBody>
                  <a:tcPr>
                    <a:solidFill>
                      <a:srgbClr val="FFFFFF"/>
                    </a:solidFill>
                  </a:tcPr>
                </a:tc>
                <a:tc>
                  <a:txBody>
                    <a:bodyPr wrap="square" lIns="73152" rIns="73152"/>
                    <a:lstStyle/>
                    <a:p>
                      <a:pPr algn="ctr">
                        <a:defRPr sz="1000" b="1">
                          <a:solidFill>
                            <a:srgbClr val="0F172A"/>
                          </a:solidFill>
                          <a:latin typeface="Segoe UI"/>
                        </a:defRPr>
                      </a:pPr>
                      <a:r>
                        <a:t>308,000 so'm/oy</a:t>
                      </a:r>
                      <a:br/>
                      <a:r>
                        <a:t>(BHM 70%)</a:t>
                      </a:r>
                    </a:p>
                  </a:txBody>
                  <a:tcPr>
                    <a:solidFill>
                      <a:srgbClr val="FFFFFF"/>
                    </a:solidFill>
                  </a:tcPr>
                </a:tc>
                <a:tc>
                  <a:txBody>
                    <a:bodyPr wrap="square" lIns="73152" rIns="73152"/>
                    <a:lstStyle/>
                    <a:p>
                      <a:pPr algn="ctr">
                        <a:defRPr sz="1000" b="1">
                          <a:solidFill>
                            <a:srgbClr val="0369A1"/>
                          </a:solidFill>
                          <a:latin typeface="Segoe UI"/>
                        </a:defRPr>
                      </a:pPr>
                      <a:r>
                        <a:t>Cheksiz</a:t>
                      </a:r>
                    </a:p>
                  </a:txBody>
                  <a:tcPr>
                    <a:solidFill>
                      <a:srgbClr val="FFFFFF"/>
                    </a:solidFill>
                  </a:tcPr>
                </a:tc>
                <a:tc>
                  <a:txBody>
                    <a:bodyPr wrap="square" lIns="73152" rIns="73152"/>
                    <a:lstStyle/>
                    <a:p>
                      <a:pPr algn="ctr">
                        <a:defRPr sz="1000">
                          <a:solidFill>
                            <a:srgbClr val="0F172A"/>
                          </a:solidFill>
                          <a:latin typeface="Segoe UI"/>
                        </a:defRPr>
                      </a:pPr>
                      <a:r>
                        <a:t>10 xodim</a:t>
                      </a:r>
                      <a:br/>
                      <a:r>
                        <a:t>2 filial</a:t>
                      </a:r>
                    </a:p>
                  </a:txBody>
                  <a:tcPr>
                    <a:solidFill>
                      <a:srgbClr val="FFFFFF"/>
                    </a:solidFill>
                  </a:tcPr>
                </a:tc>
                <a:tc>
                  <a:txBody>
                    <a:bodyPr wrap="square" lIns="73152" rIns="73152"/>
                    <a:lstStyle/>
                    <a:p>
                      <a:pPr algn="ctr">
                        <a:defRPr sz="1000">
                          <a:solidFill>
                            <a:srgbClr val="0F172A"/>
                          </a:solidFill>
                          <a:latin typeface="Segoe UI"/>
                        </a:defRPr>
                      </a:pPr>
                      <a:r>
                        <a:t>0 ta / 0 ta</a:t>
                      </a:r>
                    </a:p>
                  </a:txBody>
                  <a:tcPr>
                    <a:solidFill>
                      <a:srgbClr val="FFFFFF"/>
                    </a:solidFill>
                  </a:tcPr>
                </a:tc>
                <a:tc>
                  <a:txBody>
                    <a:bodyPr wrap="square" lIns="73152" rIns="73152"/>
                    <a:lstStyle/>
                    <a:p>
                      <a:pPr algn="l">
                        <a:defRPr sz="1000">
                          <a:solidFill>
                            <a:srgbClr val="0F172A"/>
                          </a:solidFill>
                          <a:latin typeface="Segoe UI"/>
                        </a:defRPr>
                      </a:pPr>
                      <a:r>
                        <a:t>2 ta filiali bor tarmoq do'konlar, o'sayotgan savdo</a:t>
                      </a:r>
                    </a:p>
                  </a:txBody>
                  <a:tcPr>
                    <a:solidFill>
                      <a:srgbClr val="FFFFFF"/>
                    </a:solidFill>
                  </a:tcPr>
                </a:tc>
              </a:tr>
              <a:tr h="685800">
                <a:tc>
                  <a:txBody>
                    <a:bodyPr wrap="square" lIns="73152" rIns="73152"/>
                    <a:lstStyle/>
                    <a:p>
                      <a:pPr algn="ctr">
                        <a:defRPr sz="1000" b="1">
                          <a:solidFill>
                            <a:srgbClr val="0369A1"/>
                          </a:solidFill>
                          <a:latin typeface="Segoe UI"/>
                        </a:defRPr>
                      </a:pPr>
                      <a:r>
                        <a:t>🏢 Enterprise (Grand)</a:t>
                      </a:r>
                    </a:p>
                  </a:txBody>
                  <a:tcPr>
                    <a:solidFill>
                      <a:srgbClr val="E0F2FE"/>
                    </a:solidFill>
                  </a:tcPr>
                </a:tc>
                <a:tc>
                  <a:txBody>
                    <a:bodyPr wrap="square" lIns="73152" rIns="73152"/>
                    <a:lstStyle/>
                    <a:p>
                      <a:pPr algn="ctr">
                        <a:defRPr sz="1000" b="1">
                          <a:solidFill>
                            <a:srgbClr val="0F172A"/>
                          </a:solidFill>
                          <a:latin typeface="Segoe UI"/>
                        </a:defRPr>
                      </a:pPr>
                      <a:r>
                        <a:t>418,000 so'm/oy</a:t>
                      </a:r>
                      <a:br/>
                      <a:r>
                        <a:t>(BHM 95%)</a:t>
                      </a:r>
                    </a:p>
                  </a:txBody>
                  <a:tcPr>
                    <a:solidFill>
                      <a:srgbClr val="E0F2FE"/>
                    </a:solidFill>
                  </a:tcPr>
                </a:tc>
                <a:tc>
                  <a:txBody>
                    <a:bodyPr wrap="square" lIns="73152" rIns="73152"/>
                    <a:lstStyle/>
                    <a:p>
                      <a:pPr algn="ctr">
                        <a:defRPr sz="1000" b="1">
                          <a:solidFill>
                            <a:srgbClr val="0369A1"/>
                          </a:solidFill>
                          <a:latin typeface="Segoe UI"/>
                        </a:defRPr>
                      </a:pPr>
                      <a:r>
                        <a:t>Cheksiz</a:t>
                      </a:r>
                    </a:p>
                  </a:txBody>
                  <a:tcPr>
                    <a:solidFill>
                      <a:srgbClr val="E0F2FE"/>
                    </a:solidFill>
                  </a:tcPr>
                </a:tc>
                <a:tc>
                  <a:txBody>
                    <a:bodyPr wrap="square" lIns="73152" rIns="73152"/>
                    <a:lstStyle/>
                    <a:p>
                      <a:pPr algn="ctr">
                        <a:defRPr sz="1000">
                          <a:solidFill>
                            <a:srgbClr val="0F172A"/>
                          </a:solidFill>
                          <a:latin typeface="Segoe UI"/>
                        </a:defRPr>
                      </a:pPr>
                      <a:r>
                        <a:t>20 xodim</a:t>
                      </a:r>
                      <a:br/>
                      <a:r>
                        <a:t>5 filial</a:t>
                      </a:r>
                    </a:p>
                  </a:txBody>
                  <a:tcPr>
                    <a:solidFill>
                      <a:srgbClr val="E0F2FE"/>
                    </a:solidFill>
                  </a:tcPr>
                </a:tc>
                <a:tc>
                  <a:txBody>
                    <a:bodyPr wrap="square" lIns="73152" rIns="73152"/>
                    <a:lstStyle/>
                    <a:p>
                      <a:pPr algn="ctr">
                        <a:defRPr sz="1000" b="1">
                          <a:solidFill>
                            <a:srgbClr val="0369A1"/>
                          </a:solidFill>
                          <a:latin typeface="Segoe UI"/>
                        </a:defRPr>
                      </a:pPr>
                      <a:r>
                        <a:t>Cheksiz Agent</a:t>
                      </a:r>
                      <a:br/>
                      <a:r>
                        <a:t>Cheksiz Kuryer</a:t>
                      </a:r>
                    </a:p>
                  </a:txBody>
                  <a:tcPr>
                    <a:solidFill>
                      <a:srgbClr val="E0F2FE"/>
                    </a:solidFill>
                  </a:tcPr>
                </a:tc>
                <a:tc>
                  <a:txBody>
                    <a:bodyPr wrap="square" lIns="73152" rIns="73152"/>
                    <a:lstStyle/>
                    <a:p>
                      <a:pPr algn="l">
                        <a:defRPr sz="1000" b="1">
                          <a:solidFill>
                            <a:srgbClr val="0369A1"/>
                          </a:solidFill>
                          <a:latin typeface="Segoe UI"/>
                        </a:defRPr>
                      </a:pPr>
                      <a:r>
                        <a:t>✅ Ishlab chiqarish: BOR</a:t>
                      </a:r>
                      <a:br/>
                      <a:r>
                        <a:t>✅ Distribyutsiya: BOR</a:t>
                      </a:r>
                    </a:p>
                  </a:txBody>
                  <a:tcPr>
                    <a:solidFill>
                      <a:srgbClr val="E0F2FE"/>
                    </a:solidFill>
                  </a:tcPr>
                </a:tc>
              </a:tr>
            </a:tbl>
          </a:graphicData>
        </a:graphic>
      </p:graphicFrame>
      <p:sp>
        <p:nvSpPr>
          <p:cNvPr id="7" name="Rounded Rectangle 6"/>
          <p:cNvSpPr/>
          <p:nvPr/>
        </p:nvSpPr>
        <p:spPr>
          <a:xfrm>
            <a:off x="731520" y="6126480"/>
            <a:ext cx="10728655" cy="411480"/>
          </a:xfrm>
          <a:prstGeom prst="roundRect">
            <a:avLst/>
          </a:prstGeom>
          <a:solidFill>
            <a:srgbClr val="FFFF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284C7"/>
                </a:solidFill>
                <a:latin typeface="Segoe UI"/>
              </a:defRPr>
            </a:pPr>
            <a:r>
              <a:t>💡 Savdo kaliti: Ikkilangan har qanday mijozga avval 7 kunlik Bepul Start tarifini yoqib bering — to'lovni 7 kundan keyin olasiz!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5. MIJOZ TOIFALARI</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Qaysi Mijozga Qaysi Tarifni Taklif Qilish Kerak? (Shpargalka)</a:t>
            </a:r>
          </a:p>
          <a:p>
            <a:pPr>
              <a:spcBef>
                <a:spcPts val="400"/>
              </a:spcBef>
              <a:defRPr sz="1200">
                <a:solidFill>
                  <a:srgbClr val="475569"/>
                </a:solidFill>
                <a:latin typeface="Segoe UI"/>
              </a:defRPr>
            </a:pPr>
            <a:r>
              <a:t>Mijozning do'koni va ehtiyojiga qarab birinchi soniyadanoq to'g'ri tarifni ayting:</a:t>
            </a:r>
          </a:p>
        </p:txBody>
      </p:sp>
      <p:sp>
        <p:nvSpPr>
          <p:cNvPr id="6" name="Rounded Rectangle 5"/>
          <p:cNvSpPr/>
          <p:nvPr/>
        </p:nvSpPr>
        <p:spPr>
          <a:xfrm>
            <a:off x="731520" y="1920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 Mini (99,880 so'm/oy)</a:t>
            </a:r>
          </a:p>
          <a:p>
            <a:pPr>
              <a:spcBef>
                <a:spcPts val="600"/>
              </a:spcBef>
              <a:defRPr sz="950">
                <a:solidFill>
                  <a:srgbClr val="0F172A"/>
                </a:solidFill>
                <a:latin typeface="Segoe UI"/>
              </a:defRPr>
            </a:pPr>
            <a:r>
              <a:t>👤 Kimlar uchun: Mahalla oziq-ovqat do'koni, minimarket, butik, kiyim-kechak, kosmetika, aksessuarlar.</a:t>
            </a:r>
            <a:br/>
            <a:r>
              <a:t>🎯 Sotish jumlasi: 'Aka, sizga 1C yoki qimmat dasturlar kerak emas. Kuniga atigi 3,300 so'mga (bitta somsa puliga) kassa, tovarlar va qarz daftaringiz to'liq tartibga tushadi!'</a:t>
            </a:r>
            <a:br/>
            <a:r>
              <a:t>🔑 Afzalligi: 700 tagacha tovar, 1 ta kassa, arzon narx.</a:t>
            </a:r>
          </a:p>
        </p:txBody>
      </p:sp>
      <p:sp>
        <p:nvSpPr>
          <p:cNvPr id="7" name="Rounded Rectangle 6"/>
          <p:cNvSpPr/>
          <p:nvPr/>
        </p:nvSpPr>
        <p:spPr>
          <a:xfrm>
            <a:off x="6172200" y="1920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 Boshlang'ich (198,000 so'm/oy)</a:t>
            </a:r>
          </a:p>
          <a:p>
            <a:pPr>
              <a:spcBef>
                <a:spcPts val="600"/>
              </a:spcBef>
              <a:defRPr sz="950">
                <a:solidFill>
                  <a:srgbClr val="0F172A"/>
                </a:solidFill>
                <a:latin typeface="Segoe UI"/>
              </a:defRPr>
            </a:pPr>
            <a:r>
              <a:t>👤 Kimlar uchun: Katta oziq-ovqat do'koni, qurilish mollari, avtozapchast, xo'jalik mollari, 3-5 ta sotuvchisi bor do'konlar.</a:t>
            </a:r>
            <a:br/>
            <a:r>
              <a:t>🎯 Sotish jumlasi: 'Tovarlar soni cheksiz! 5 tagacha xodimingiz (kassir, omborchi, menejer) tizimda bemalol birgalikda ishlaydi, qaysi xodim nima sotganini ko'rib turasiz.'</a:t>
            </a:r>
            <a:br/>
            <a:r>
              <a:t>🔑 Afzalligi: Cheksiz tovarlar, 5 xodim, to'liq kassa.</a:t>
            </a:r>
          </a:p>
        </p:txBody>
      </p:sp>
      <p:sp>
        <p:nvSpPr>
          <p:cNvPr id="8" name="Rounded Rectangle 7"/>
          <p:cNvSpPr/>
          <p:nvPr/>
        </p:nvSpPr>
        <p:spPr>
          <a:xfrm>
            <a:off x="731520" y="4206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 Pro VIP (308,000 so'm/oy)</a:t>
            </a:r>
          </a:p>
          <a:p>
            <a:pPr>
              <a:spcBef>
                <a:spcPts val="600"/>
              </a:spcBef>
              <a:defRPr sz="950">
                <a:solidFill>
                  <a:srgbClr val="0F172A"/>
                </a:solidFill>
                <a:latin typeface="Segoe UI"/>
              </a:defRPr>
            </a:pPr>
            <a:r>
              <a:t>👤 Kimlar uchun: 2 ta filiali bor do'konlar, o'sayotgan savdo tarmoqlari, kattaroq supermarketlar.</a:t>
            </a:r>
            <a:br/>
            <a:r>
              <a:t>🎯 Sotish jumlasi: 'Ikkala fililingizdagi tovarlar qoldig'i va kunlik kassani bitta telefonda birlashtirib ko'rasiz. Bir filialdan ikkinchisiga tovar ko'chirish 1 sekund.'</a:t>
            </a:r>
            <a:br/>
            <a:r>
              <a:t>🔑 Afzalligi: 2 ta filial, 10 ta xodim, markazlashgan boshqaruv.</a:t>
            </a:r>
          </a:p>
        </p:txBody>
      </p:sp>
      <p:sp>
        <p:nvSpPr>
          <p:cNvPr id="9" name="Rounded Rectangle 8"/>
          <p:cNvSpPr/>
          <p:nvPr/>
        </p:nvSpPr>
        <p:spPr>
          <a:xfrm>
            <a:off x="6172200" y="4206240"/>
            <a:ext cx="5257800" cy="214884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0369A1"/>
                </a:solidFill>
                <a:latin typeface="Segoe UI"/>
              </a:defRPr>
            </a:pPr>
            <a:r>
              <a:t>🏢 Enterprise (418,000 so'm/oy)</a:t>
            </a:r>
          </a:p>
          <a:p>
            <a:pPr>
              <a:spcBef>
                <a:spcPts val="600"/>
              </a:spcBef>
              <a:defRPr sz="950">
                <a:solidFill>
                  <a:srgbClr val="0F172A"/>
                </a:solidFill>
                <a:latin typeface="Segoe UI"/>
              </a:defRPr>
            </a:pPr>
            <a:r>
              <a:t>👤 Kimlar uchun: Ulgurji savdo bazalari, ishlab chiqarish sexlari, dilerlar, distribyutorlar (savdo agentlari bor bizneslar).</a:t>
            </a:r>
            <a:br/>
            <a:r>
              <a:t>🎯 Sotish jumlasi: 'Savdo agentlari va kuryerlar soni CHEKSIZ! Xarita orqali agentlaringizni kuzatasiz, ishlab chiqarishda xom-ashyo tannarxini hisoblaysiz.'</a:t>
            </a:r>
            <a:br/>
            <a:r>
              <a:t>🔑 Afzalligi: Cheksiz agentlar, ishlab chiqarish va distribyutsiya ochiq!</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6. UP-SELL &amp; MODULLAR</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Qo'shimcha Pullik Modullar: Istalgan Tarifga Qo'shish Mumkin</a:t>
            </a:r>
          </a:p>
          <a:p>
            <a:pPr>
              <a:spcBef>
                <a:spcPts val="400"/>
              </a:spcBef>
              <a:defRPr sz="1200">
                <a:solidFill>
                  <a:srgbClr val="475569"/>
                </a:solidFill>
                <a:latin typeface="Segoe UI"/>
              </a:defRPr>
            </a:pPr>
            <a:r>
              <a:t>Mijoz kichik tarifda bo'lsa ham, quyidagi modullarni alohida sotib olib tizimni kengaytira oladi:</a:t>
            </a:r>
          </a:p>
        </p:txBody>
      </p:sp>
      <p:sp>
        <p:nvSpPr>
          <p:cNvPr id="6" name="Rounded Rectangle 5"/>
          <p:cNvSpPr/>
          <p:nvPr/>
        </p:nvSpPr>
        <p:spPr>
          <a:xfrm>
            <a:off x="731520" y="1920240"/>
            <a:ext cx="3413455" cy="39319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284C7"/>
                </a:solidFill>
                <a:latin typeface="Segoe UI"/>
              </a:defRPr>
            </a:pPr>
            <a:r>
              <a:t>🏭 Ishlab Chiqarish Moduli</a:t>
            </a:r>
          </a:p>
          <a:p>
            <a:pPr>
              <a:spcBef>
                <a:spcPts val="400"/>
              </a:spcBef>
              <a:defRPr sz="1100" b="1">
                <a:solidFill>
                  <a:srgbClr val="0369A1"/>
                </a:solidFill>
                <a:latin typeface="Segoe UI"/>
              </a:defRPr>
            </a:pPr>
            <a:r>
              <a:t>25% BHM (~110,000 so'm/oy)</a:t>
            </a:r>
          </a:p>
          <a:p>
            <a:pPr>
              <a:spcBef>
                <a:spcPts val="800"/>
              </a:spcBef>
              <a:defRPr sz="950">
                <a:solidFill>
                  <a:srgbClr val="0F172A"/>
                </a:solidFill>
                <a:latin typeface="Segoe UI"/>
              </a:defRPr>
            </a:pPr>
            <a:r>
              <a:t>• Retseptura va kalkulyatsiya (1 ta mahsulotga qancha xom-ashyo ketadi)</a:t>
            </a:r>
            <a:br/>
            <a:r>
              <a:t>• Tayyor mahsulot va yarim tayyor mahsulot tannarxini avtomatik hisoblash</a:t>
            </a:r>
            <a:br/>
            <a:r>
              <a:t>• Xom-ashyo kamayganda ogohlantirish va isrofgarchilikni yo'qotish</a:t>
            </a:r>
            <a:br/>
            <a:r>
              <a:t>• Qandolat sexlari, kiyim tikish, nonvoyxonalar, ishlab chiqaruvchilar uchun ideal</a:t>
            </a:r>
          </a:p>
        </p:txBody>
      </p:sp>
      <p:sp>
        <p:nvSpPr>
          <p:cNvPr id="7" name="Rounded Rectangle 6"/>
          <p:cNvSpPr/>
          <p:nvPr/>
        </p:nvSpPr>
        <p:spPr>
          <a:xfrm>
            <a:off x="4389120" y="1920240"/>
            <a:ext cx="3413455" cy="39319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284C7"/>
                </a:solidFill>
                <a:latin typeface="Segoe UI"/>
              </a:defRPr>
            </a:pPr>
            <a:r>
              <a:t>🚚 Distribyutsiya &amp; Dala Xodimlari</a:t>
            </a:r>
          </a:p>
          <a:p>
            <a:pPr>
              <a:spcBef>
                <a:spcPts val="400"/>
              </a:spcBef>
              <a:defRPr sz="1100" b="1">
                <a:solidFill>
                  <a:srgbClr val="0369A1"/>
                </a:solidFill>
                <a:latin typeface="Segoe UI"/>
              </a:defRPr>
            </a:pPr>
            <a:r>
              <a:t>25% BHM (~110,000 so'm/oy)</a:t>
            </a:r>
          </a:p>
          <a:p>
            <a:pPr>
              <a:spcBef>
                <a:spcPts val="800"/>
              </a:spcBef>
              <a:defRPr sz="950">
                <a:solidFill>
                  <a:srgbClr val="0F172A"/>
                </a:solidFill>
                <a:latin typeface="Segoe UI"/>
              </a:defRPr>
            </a:pPr>
            <a:r>
              <a:t>• Mobil ilovada savdo agentlari va kuryerlarni ulash imkoniyati</a:t>
            </a:r>
            <a:br/>
            <a:r>
              <a:t>• Dala xodimlari uchun marshrutlar, grafiklar va vazifalar taqsimoti</a:t>
            </a:r>
            <a:br/>
            <a:r>
              <a:t>• Jonli GPS geolokatsiya va do'konlarga tashrif nazorati</a:t>
            </a:r>
            <a:br/>
            <a:r>
              <a:t>• Do'kondan olingan buyurtmalarni bir zumda markaziy bazaga uzatish</a:t>
            </a:r>
          </a:p>
        </p:txBody>
      </p:sp>
      <p:sp>
        <p:nvSpPr>
          <p:cNvPr id="8" name="Rounded Rectangle 7"/>
          <p:cNvSpPr/>
          <p:nvPr/>
        </p:nvSpPr>
        <p:spPr>
          <a:xfrm>
            <a:off x="8046720" y="1920240"/>
            <a:ext cx="3413455" cy="39319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284C7"/>
                </a:solidFill>
                <a:latin typeface="Segoe UI"/>
              </a:defRPr>
            </a:pPr>
            <a:r>
              <a:t>⚡ Yetkazib Berish Avtomatikasi</a:t>
            </a:r>
          </a:p>
          <a:p>
            <a:pPr>
              <a:spcBef>
                <a:spcPts val="400"/>
              </a:spcBef>
              <a:defRPr sz="1100" b="1">
                <a:solidFill>
                  <a:srgbClr val="0369A1"/>
                </a:solidFill>
                <a:latin typeface="Segoe UI"/>
              </a:defRPr>
            </a:pPr>
            <a:r>
              <a:t>10% BHM (~44,000 so'm/oy)</a:t>
            </a:r>
          </a:p>
          <a:p>
            <a:pPr>
              <a:spcBef>
                <a:spcPts val="800"/>
              </a:spcBef>
              <a:defRPr sz="950">
                <a:solidFill>
                  <a:srgbClr val="0F172A"/>
                </a:solidFill>
                <a:latin typeface="Segoe UI"/>
              </a:defRPr>
            </a:pPr>
            <a:r>
              <a:t>• Haydovchi yoki kuryer buyurtmani mijozga topshirganda kassa avtomatik uriladi</a:t>
            </a:r>
            <a:br/>
            <a:r>
              <a:t>• Ortiqcha qo'lda qog'ozbozlik va to'lov kiritish jarayonlari yo'qoladi</a:t>
            </a:r>
            <a:br/>
            <a:r>
              <a:t>• Nasiya yoki naqd to'lov avtomatik tarzda mijoz qarz balansiga yoziladi</a:t>
            </a:r>
            <a:br/>
            <a:r>
              <a:t>• Yetkazib berish xizmatlari va dilerlik do'konlari uchun qulay</a:t>
            </a:r>
          </a:p>
        </p:txBody>
      </p:sp>
      <p:sp>
        <p:nvSpPr>
          <p:cNvPr id="9" name="Rounded Rectangle 8"/>
          <p:cNvSpPr/>
          <p:nvPr/>
        </p:nvSpPr>
        <p:spPr>
          <a:xfrm>
            <a:off x="731520" y="5989320"/>
            <a:ext cx="10728655" cy="457200"/>
          </a:xfrm>
          <a:prstGeom prst="roundRect">
            <a:avLst/>
          </a:prstGeom>
          <a:solidFill>
            <a:srgbClr val="FFFF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475569"/>
                </a:solidFill>
                <a:latin typeface="Segoe UI"/>
              </a:defRPr>
            </a:pPr>
            <a:r>
              <a:t>🔒 Kafolat: Obuna muddati tugasa ham kompaniyaning BIRORTA ma'lumoti o'chmaydi! Qayta sotib olinganda barcha arxiv ochiladi.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7. E'TIROZLAR SHPARGALKASI</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Mijoz E'tirozlari va Professional Javoblar (1-qism)</a:t>
            </a:r>
          </a:p>
          <a:p>
            <a:pPr>
              <a:spcBef>
                <a:spcPts val="400"/>
              </a:spcBef>
              <a:defRPr sz="1200">
                <a:solidFill>
                  <a:srgbClr val="475569"/>
                </a:solidFill>
                <a:latin typeface="Segoe UI"/>
              </a:defRPr>
            </a:pPr>
            <a:r>
              <a:t>Mijoz 'yo'q' deganida savdo tugamaydi, balki boshlanadi. Mana bu tayyor javoblardan foydalaning:</a:t>
            </a:r>
          </a:p>
        </p:txBody>
      </p:sp>
      <p:sp>
        <p:nvSpPr>
          <p:cNvPr id="6" name="Rounded Rectangle 5"/>
          <p:cNvSpPr/>
          <p:nvPr/>
        </p:nvSpPr>
        <p:spPr>
          <a:xfrm>
            <a:off x="731520" y="1920240"/>
            <a:ext cx="10728655" cy="13258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E'tiroz 1: 'Biz daftarda yozishga o'rganganmiz, dastur shart emas'</a:t>
            </a:r>
          </a:p>
          <a:p>
            <a:pPr>
              <a:spcBef>
                <a:spcPts val="300"/>
              </a:spcBef>
              <a:defRPr sz="950">
                <a:solidFill>
                  <a:srgbClr val="0F172A"/>
                </a:solidFill>
                <a:latin typeface="Segoe UI"/>
              </a:defRPr>
            </a:pPr>
            <a:r>
              <a:t>✅ Professional Javob:</a:t>
            </a:r>
            <a:br/>
            <a:r>
              <a:t>"Aka, juda to'g'ri, daftarda yozish qulaydek tuyuladi. Lekin oxirgi 6 oyda daftaringizdan qancha qarz esdan chiqdi yoki to'lanmay qoldi? O'rtacha bitta do'konda oyiga 1-2 million so'mlik tovar qayerga ketgani noma'lum bo'ladi. E-Code dasturi oyiga 99 ming so'm evaziga millionlab so'mlik noaniq yo'qotishlaringizni to'xtatadi. 7 kun bepul sinab ko'ring, farqini o'zingiz sezasiz!"</a:t>
            </a:r>
          </a:p>
        </p:txBody>
      </p:sp>
      <p:sp>
        <p:nvSpPr>
          <p:cNvPr id="7" name="Rounded Rectangle 6"/>
          <p:cNvSpPr/>
          <p:nvPr/>
        </p:nvSpPr>
        <p:spPr>
          <a:xfrm>
            <a:off x="731520" y="3383280"/>
            <a:ext cx="10728655" cy="13258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E'tiroz 2: 'Bizda 1C yoki boshqa dastur bor, bizga kerak emas'</a:t>
            </a:r>
          </a:p>
          <a:p>
            <a:pPr>
              <a:spcBef>
                <a:spcPts val="300"/>
              </a:spcBef>
              <a:defRPr sz="950">
                <a:solidFill>
                  <a:srgbClr val="0F172A"/>
                </a:solidFill>
                <a:latin typeface="Segoe UI"/>
              </a:defRPr>
            </a:pPr>
            <a:r>
              <a:t>✅ Professional Javob:</a:t>
            </a:r>
            <a:br/>
            <a:r>
              <a:t>"Juda ajoyib, demak siz tizim qadrini bilasiz! Lekin 1C da savdo agentlaringiz do'kondan turib buyurtma yubora oladimi? Kechqurun uyingizda yotganingizda Telegram botingizga bugungi sof foydangiz keladimi? Dasturni o'zgartirish uchun qancha xarajat qilasiz? E-Code da barchasi o'zbek tilida, telefoningizda va oylik to'lovi 1C xizmatidan 5 barobar arzon. Keling, ikkinchi filialingizda sinab ko'ramiz!"</a:t>
            </a:r>
          </a:p>
        </p:txBody>
      </p:sp>
      <p:sp>
        <p:nvSpPr>
          <p:cNvPr id="8" name="Rounded Rectangle 7"/>
          <p:cNvSpPr/>
          <p:nvPr/>
        </p:nvSpPr>
        <p:spPr>
          <a:xfrm>
            <a:off x="731520" y="4846320"/>
            <a:ext cx="10728655" cy="13258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E'tiroz 3: 'Dasturingiz qimmat ekan'</a:t>
            </a:r>
          </a:p>
          <a:p>
            <a:pPr>
              <a:spcBef>
                <a:spcPts val="300"/>
              </a:spcBef>
              <a:defRPr sz="950">
                <a:solidFill>
                  <a:srgbClr val="0F172A"/>
                </a:solidFill>
                <a:latin typeface="Segoe UI"/>
              </a:defRPr>
            </a:pPr>
            <a:r>
              <a:t>✅ Professional Javob:</a:t>
            </a:r>
            <a:br/>
            <a:r>
              <a:t>"Aka, keling hisoblaymiz: Kichik do'kon tarifi oyiga 99,880 so'm — bu kuniga 3,300 so'm degani. Hozir bitta non 3,000 so'm turadi! Bozorda boshqa ERP tizimlar oyiga $30 dan $100 gacha turadi. Biz sizga kuniga bitta somsa narxiga butun do'koningiz nazoratini beramiz!"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7. E'TIROZLAR SHPARGALKASI</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Mijoz E'tirozlari va Professional Javoblar (2-qism)</a:t>
            </a:r>
          </a:p>
          <a:p>
            <a:pPr>
              <a:spcBef>
                <a:spcPts val="400"/>
              </a:spcBef>
              <a:defRPr sz="1200">
                <a:solidFill>
                  <a:srgbClr val="475569"/>
                </a:solidFill>
                <a:latin typeface="Segoe UI"/>
              </a:defRPr>
            </a:pPr>
            <a:r>
              <a:t>Texnik xavotirlar va ikkilanishlarni bartaraf etish bo'yicha tayyor skriptlar:</a:t>
            </a:r>
          </a:p>
        </p:txBody>
      </p:sp>
      <p:sp>
        <p:nvSpPr>
          <p:cNvPr id="6" name="Rounded Rectangle 5"/>
          <p:cNvSpPr/>
          <p:nvPr/>
        </p:nvSpPr>
        <p:spPr>
          <a:xfrm>
            <a:off x="731520" y="1920240"/>
            <a:ext cx="10728655" cy="13258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E'tiroz 4: 'Internet o'chib qolsa nima bo'ladi? Savdo to'xtab qoladimi?'</a:t>
            </a:r>
          </a:p>
          <a:p>
            <a:pPr>
              <a:spcBef>
                <a:spcPts val="300"/>
              </a:spcBef>
              <a:defRPr sz="950">
                <a:solidFill>
                  <a:srgbClr val="0F172A"/>
                </a:solidFill>
                <a:latin typeface="Segoe UI"/>
              </a:defRPr>
            </a:pPr>
            <a:r>
              <a:t>✅ Professional Javob:</a:t>
            </a:r>
            <a:br/>
            <a:r>
              <a:t>"Aslo to'xtamaydi! E-Code POS kassa va mobil ilovamiz to'liq OFFLINE rejimda ishlay oladi. Chiroq yoki internet o'chsa ham savdo qilaverasiz, chek chiqaraverasiz. Internet yoqilishi bilan hamma ma'lumotlar server bilan avtomatik sinxronlanadi."</a:t>
            </a:r>
          </a:p>
        </p:txBody>
      </p:sp>
      <p:sp>
        <p:nvSpPr>
          <p:cNvPr id="7" name="Rounded Rectangle 6"/>
          <p:cNvSpPr/>
          <p:nvPr/>
        </p:nvSpPr>
        <p:spPr>
          <a:xfrm>
            <a:off x="731520" y="3383280"/>
            <a:ext cx="10728655" cy="13258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E'tiroz 5: 'Xodimlarim/sotuvchilarim yoshi katta, tushunmaydi, qiyin'</a:t>
            </a:r>
          </a:p>
          <a:p>
            <a:pPr>
              <a:spcBef>
                <a:spcPts val="300"/>
              </a:spcBef>
              <a:defRPr sz="950">
                <a:solidFill>
                  <a:srgbClr val="0F172A"/>
                </a:solidFill>
                <a:latin typeface="Segoe UI"/>
              </a:defRPr>
            </a:pPr>
            <a:r>
              <a:t>✅ Professional Javob:</a:t>
            </a:r>
            <a:br/>
            <a:r>
              <a:t>"Biz tizimni xuddi Telegramdek oddiy qilib tayyorlaganmiz. Murakkab buxgalteriya so'zlari yo'q, hamma narsa sof o'zbek tilida (lotin va kirill). O'rtacha har qanday sotuvchi 15 daqiqada mustaqil ishlay oladi. Qolaversa, o'zimiz xodimlaringizga videoroliklar va jonli o'rgatib beramiz!"</a:t>
            </a:r>
          </a:p>
        </p:txBody>
      </p:sp>
      <p:sp>
        <p:nvSpPr>
          <p:cNvPr id="8" name="Rounded Rectangle 7"/>
          <p:cNvSpPr/>
          <p:nvPr/>
        </p:nvSpPr>
        <p:spPr>
          <a:xfrm>
            <a:off x="731520" y="4846320"/>
            <a:ext cx="10728655" cy="13258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 E'tiroz 6: 'Hozir vaqtim yo'q, keyinroq gaplashaylik'</a:t>
            </a:r>
          </a:p>
          <a:p>
            <a:pPr>
              <a:spcBef>
                <a:spcPts val="300"/>
              </a:spcBef>
              <a:defRPr sz="950">
                <a:solidFill>
                  <a:srgbClr val="0F172A"/>
                </a:solidFill>
                <a:latin typeface="Segoe UI"/>
              </a:defRPr>
            </a:pPr>
            <a:r>
              <a:t>✅ Professional Javob:</a:t>
            </a:r>
            <a:br/>
            <a:r>
              <a:t>"To'g'ri tushunaman, do'konda mijoz ko'p. Shuning uchun hozir vaqtingizni olmayman: Menga faqat telefon raqamingizni ayting, men sizga 7 kunlik Bepul Start hisobini ochib beraman. Kechqurun uyingizda 5 daqiqa telefoningizda ko'rib chiqasiz. Ma'qul kelsa gaplashamiz, ma'qul kelmasa hech narsa yo'qotmaysiz!"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8. SAVDONI YOPISH (CLOSING)</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Har Bir Do'konga Dastur O'rnatishning 4 Bosqichi</a:t>
            </a:r>
          </a:p>
          <a:p>
            <a:pPr>
              <a:spcBef>
                <a:spcPts val="400"/>
              </a:spcBef>
              <a:defRPr sz="1200">
                <a:solidFill>
                  <a:srgbClr val="475569"/>
                </a:solidFill>
                <a:latin typeface="Segoe UI"/>
              </a:defRPr>
            </a:pPr>
            <a:r>
              <a:t>Mijozni ko'p gap bilan charchatmang. Mana shu 4 bosqichli oddiy algoritm bilan natijaga erishing:</a:t>
            </a:r>
          </a:p>
        </p:txBody>
      </p:sp>
      <p:sp>
        <p:nvSpPr>
          <p:cNvPr id="6" name="Rounded Rectangle 5"/>
          <p:cNvSpPr/>
          <p:nvPr/>
        </p:nvSpPr>
        <p:spPr>
          <a:xfrm>
            <a:off x="731520" y="1920240"/>
            <a:ext cx="2560320" cy="42976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284C7"/>
                </a:solidFill>
                <a:latin typeface="Segoe UI"/>
              </a:defRPr>
            </a:pPr>
            <a:r>
              <a:t>1-QADAM: Dardni Aniqlash</a:t>
            </a:r>
          </a:p>
          <a:p>
            <a:pPr>
              <a:spcBef>
                <a:spcPts val="400"/>
              </a:spcBef>
              <a:defRPr sz="1050" b="1">
                <a:solidFill>
                  <a:srgbClr val="0369A1"/>
                </a:solidFill>
                <a:latin typeface="Segoe UI"/>
              </a:defRPr>
            </a:pPr>
            <a:r>
              <a:t>Savol bering:</a:t>
            </a:r>
          </a:p>
          <a:p>
            <a:pPr>
              <a:spcBef>
                <a:spcPts val="600"/>
              </a:spcBef>
              <a:defRPr sz="950">
                <a:solidFill>
                  <a:srgbClr val="0F172A"/>
                </a:solidFill>
                <a:latin typeface="Segoe UI"/>
              </a:defRPr>
            </a:pPr>
            <a:r>
              <a:t>"Aka, hozir qaysi tovaringizdan qancha qolganini va xaridorlaringizdan qancha qarz borligini qanday hisoblayapsiz?"</a:t>
            </a:r>
            <a:br/>
            <a:br/>
            <a:r>
              <a:t>Mijoz o'z muammolarini o'zi gapirib berishini kuting.</a:t>
            </a:r>
          </a:p>
        </p:txBody>
      </p:sp>
      <p:sp>
        <p:nvSpPr>
          <p:cNvPr id="7" name="Rounded Rectangle 6"/>
          <p:cNvSpPr/>
          <p:nvPr/>
        </p:nvSpPr>
        <p:spPr>
          <a:xfrm>
            <a:off x="3474720" y="1920240"/>
            <a:ext cx="2560320" cy="42976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284C7"/>
                </a:solidFill>
                <a:latin typeface="Segoe UI"/>
              </a:defRPr>
            </a:pPr>
            <a:r>
              <a:t>2-QADAM: Jonli Demo Ko'rsatish</a:t>
            </a:r>
          </a:p>
          <a:p>
            <a:pPr>
              <a:spcBef>
                <a:spcPts val="400"/>
              </a:spcBef>
              <a:defRPr sz="1050" b="1">
                <a:solidFill>
                  <a:srgbClr val="0369A1"/>
                </a:solidFill>
                <a:latin typeface="Segoe UI"/>
              </a:defRPr>
            </a:pPr>
            <a:r>
              <a:t>Ko'rsating, gapirmang:</a:t>
            </a:r>
          </a:p>
          <a:p>
            <a:pPr>
              <a:spcBef>
                <a:spcPts val="600"/>
              </a:spcBef>
              <a:defRPr sz="950">
                <a:solidFill>
                  <a:srgbClr val="0F172A"/>
                </a:solidFill>
                <a:latin typeface="Segoe UI"/>
              </a:defRPr>
            </a:pPr>
            <a:r>
              <a:t>O'z telefoningizda E-Code Agent ilovasini yoki noutbukda kassa ekranini oching. 1 ta tovarni shtrix-kod bilan skaner qilib sotib ko'rsating.</a:t>
            </a:r>
            <a:br/>
            <a:br/>
            <a:r>
              <a:t>"Mana, atigi 2 sekundda chek chiqdi va qoldiqdan ayirildi!"</a:t>
            </a:r>
          </a:p>
        </p:txBody>
      </p:sp>
      <p:sp>
        <p:nvSpPr>
          <p:cNvPr id="8" name="Rounded Rectangle 7"/>
          <p:cNvSpPr/>
          <p:nvPr/>
        </p:nvSpPr>
        <p:spPr>
          <a:xfrm>
            <a:off x="6217920" y="1920240"/>
            <a:ext cx="2560320" cy="42976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284C7"/>
                </a:solidFill>
                <a:latin typeface="Segoe UI"/>
              </a:defRPr>
            </a:pPr>
            <a:r>
              <a:t>3-QADAM: Bepul Sinovni Yoqish</a:t>
            </a:r>
          </a:p>
          <a:p>
            <a:pPr>
              <a:spcBef>
                <a:spcPts val="400"/>
              </a:spcBef>
              <a:defRPr sz="1050" b="1">
                <a:solidFill>
                  <a:srgbClr val="0369A1"/>
                </a:solidFill>
                <a:latin typeface="Segoe UI"/>
              </a:defRPr>
            </a:pPr>
            <a:r>
              <a:t>Rad etib bo'lmas taklif:</a:t>
            </a:r>
          </a:p>
          <a:p>
            <a:pPr>
              <a:spcBef>
                <a:spcPts val="600"/>
              </a:spcBef>
              <a:defRPr sz="950">
                <a:solidFill>
                  <a:srgbClr val="0F172A"/>
                </a:solidFill>
                <a:latin typeface="Segoe UI"/>
              </a:defRPr>
            </a:pPr>
            <a:r>
              <a:t>"Aka, hozir hech qanday to'lov qilmaysiz. Sizga 7 kunga to'liq bepul akkaunt ochib beraman. Birorta tovaringizni kiritib ko'ring.</a:t>
            </a:r>
            <a:br/>
            <a:br/>
            <a:r>
              <a:t>Yoqsa 7 kundan keyin to'laysiz, yoqmasa to'xtatasiz."</a:t>
            </a:r>
          </a:p>
        </p:txBody>
      </p:sp>
      <p:sp>
        <p:nvSpPr>
          <p:cNvPr id="9" name="Rounded Rectangle 8"/>
          <p:cNvSpPr/>
          <p:nvPr/>
        </p:nvSpPr>
        <p:spPr>
          <a:xfrm>
            <a:off x="8961120" y="1920240"/>
            <a:ext cx="2560320" cy="42976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200" b="1">
                <a:solidFill>
                  <a:srgbClr val="0284C7"/>
                </a:solidFill>
                <a:latin typeface="Segoe UI"/>
              </a:defRPr>
            </a:pPr>
            <a:r>
              <a:t>4-QADAM: Obunani To'latish</a:t>
            </a:r>
          </a:p>
          <a:p>
            <a:pPr>
              <a:spcBef>
                <a:spcPts val="400"/>
              </a:spcBef>
              <a:defRPr sz="1050" b="1">
                <a:solidFill>
                  <a:srgbClr val="0369A1"/>
                </a:solidFill>
                <a:latin typeface="Segoe UI"/>
              </a:defRPr>
            </a:pPr>
            <a:r>
              <a:t>Follow-up va natija:</a:t>
            </a:r>
          </a:p>
          <a:p>
            <a:pPr>
              <a:spcBef>
                <a:spcPts val="600"/>
              </a:spcBef>
              <a:defRPr sz="950">
                <a:solidFill>
                  <a:srgbClr val="0F172A"/>
                </a:solidFill>
                <a:latin typeface="Segoe UI"/>
              </a:defRPr>
            </a:pPr>
            <a:r>
              <a:t>3- va 6-kunlari qo'ng'iroq qilib savollariga yordam bering. 7-kuni:</a:t>
            </a:r>
            <a:br/>
            <a:br/>
            <a:r>
              <a:t>"Aka, bir haftada tizim ancha yengillik berdimi? Qaysi tarifda davom etamiz — Mini (99 ming) yoki Boshlang'ich (198 ming)?"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9. AGENT ESLATMASI</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Savdo Agenti Uchun 5 Ta Oltin Qoida (Kunlik Shpargalka)</a:t>
            </a:r>
          </a:p>
          <a:p>
            <a:pPr>
              <a:spcBef>
                <a:spcPts val="400"/>
              </a:spcBef>
              <a:defRPr sz="1200">
                <a:solidFill>
                  <a:srgbClr val="475569"/>
                </a:solidFill>
                <a:latin typeface="Segoe UI"/>
              </a:defRPr>
            </a:pPr>
            <a:r>
              <a:t>Har kuni savdoga chiqishdan oldin mana shu qoidalarni esda saqlang va yuqori daromadga chiqing:</a:t>
            </a:r>
          </a:p>
        </p:txBody>
      </p:sp>
      <p:sp>
        <p:nvSpPr>
          <p:cNvPr id="6" name="Rounded Rectangle 5"/>
          <p:cNvSpPr/>
          <p:nvPr/>
        </p:nvSpPr>
        <p:spPr>
          <a:xfrm>
            <a:off x="731520" y="1874519"/>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1. Funksiyani Emas, Mijoz Foydasini Soting</a:t>
            </a:r>
          </a:p>
          <a:p>
            <a:pPr>
              <a:spcBef>
                <a:spcPts val="200"/>
              </a:spcBef>
              <a:defRPr sz="950">
                <a:solidFill>
                  <a:srgbClr val="0F172A"/>
                </a:solidFill>
                <a:latin typeface="Segoe UI"/>
              </a:defRPr>
            </a:pPr>
            <a:r>
              <a:t>Mijozga 'Bizda P&amp;L hisoboti bor' deb aytmang. Unga: 'Kechqurun uyingizda o'tirib bugun do'koningiz sizga necha pul SOF FOYDA keltirganini telefoningizda ko'rasiz' deb ayting.</a:t>
            </a:r>
          </a:p>
        </p:txBody>
      </p:sp>
      <p:sp>
        <p:nvSpPr>
          <p:cNvPr id="7" name="Rounded Rectangle 6"/>
          <p:cNvSpPr/>
          <p:nvPr/>
        </p:nvSpPr>
        <p:spPr>
          <a:xfrm>
            <a:off x="731520" y="2807208"/>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2. Telefoningizda Demo Ilova Doim Tayyor Bo'lsin</a:t>
            </a:r>
          </a:p>
          <a:p>
            <a:pPr>
              <a:spcBef>
                <a:spcPts val="200"/>
              </a:spcBef>
              <a:defRPr sz="950">
                <a:solidFill>
                  <a:srgbClr val="0F172A"/>
                </a:solidFill>
                <a:latin typeface="Segoe UI"/>
              </a:defRPr>
            </a:pPr>
            <a:r>
              <a:t>O'z telefoningizda E-Code Agent ilovasini va test tovarlarni o'rnatib oling. Mijozga 1 daqiqalik ko'rgazmali demo 1 soatlik quruq gapdan ko'ra 10 barobar ko'proq samara beradi.</a:t>
            </a:r>
          </a:p>
        </p:txBody>
      </p:sp>
      <p:sp>
        <p:nvSpPr>
          <p:cNvPr id="8" name="Rounded Rectangle 7"/>
          <p:cNvSpPr/>
          <p:nvPr/>
        </p:nvSpPr>
        <p:spPr>
          <a:xfrm>
            <a:off x="731520" y="3739896"/>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3. 'Yo'q' Javobidan Aslo Qo'rqmang (Katta Sonlar Qonuni)</a:t>
            </a:r>
          </a:p>
          <a:p>
            <a:pPr>
              <a:spcBef>
                <a:spcPts val="200"/>
              </a:spcBef>
              <a:defRPr sz="950">
                <a:solidFill>
                  <a:srgbClr val="0F172A"/>
                </a:solidFill>
                <a:latin typeface="Segoe UI"/>
              </a:defRPr>
            </a:pPr>
            <a:r>
              <a:t>10 ta do'konga kirsangiz: 5 tasi sizni eshitadi, 3 tasi 7 kunlik bepul test oladi, 1 tasi oylik obunaga to'laydi. 1 ta sotuv qilish uchun 10 ta joyga kirish kerakligini biling!</a:t>
            </a:r>
          </a:p>
        </p:txBody>
      </p:sp>
      <p:sp>
        <p:nvSpPr>
          <p:cNvPr id="9" name="Rounded Rectangle 8"/>
          <p:cNvSpPr/>
          <p:nvPr/>
        </p:nvSpPr>
        <p:spPr>
          <a:xfrm>
            <a:off x="731520" y="4672583"/>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4. Mijozni Bepul Sinov Paytida Yolg'iz Qoldirmang</a:t>
            </a:r>
          </a:p>
          <a:p>
            <a:pPr>
              <a:spcBef>
                <a:spcPts val="200"/>
              </a:spcBef>
              <a:defRPr sz="950">
                <a:solidFill>
                  <a:srgbClr val="0F172A"/>
                </a:solidFill>
                <a:latin typeface="Segoe UI"/>
              </a:defRPr>
            </a:pPr>
            <a:r>
              <a:t>7 kunlik test ochib berganingizdan so'ng, 2-kuni va 5-kuni albatta telefon qiling yoki kirib o'ting. Savollariga javob bering. E'tibor berilgan mijoz albatta pullik obunaga o'tadi.</a:t>
            </a:r>
          </a:p>
        </p:txBody>
      </p:sp>
      <p:sp>
        <p:nvSpPr>
          <p:cNvPr id="10" name="Rounded Rectangle 9"/>
          <p:cNvSpPr/>
          <p:nvPr/>
        </p:nvSpPr>
        <p:spPr>
          <a:xfrm>
            <a:off x="731520" y="5605272"/>
            <a:ext cx="10728655" cy="859536"/>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defRPr sz="1200" b="1">
                <a:solidFill>
                  <a:srgbClr val="0369A1"/>
                </a:solidFill>
                <a:latin typeface="Segoe UI"/>
              </a:defRPr>
            </a:pPr>
            <a:r>
              <a:t>5. O'zbekiston Bozoriga Moslashtirilgan Mahalliy Tizim Ekanini Ta'kidlang</a:t>
            </a:r>
          </a:p>
          <a:p>
            <a:pPr>
              <a:spcBef>
                <a:spcPts val="200"/>
              </a:spcBef>
              <a:defRPr sz="950">
                <a:solidFill>
                  <a:srgbClr val="0F172A"/>
                </a:solidFill>
                <a:latin typeface="Segoe UI"/>
              </a:defRPr>
            </a:pPr>
            <a:r>
              <a:t>Biz xorijiy dastur emasmiz: QQS va soliq tizimi bilan integratsiya, Humo va Uzcard to'lovlari, o'zbek tilidagi interfeys va 7/24 mahalliy qo'llab-quvvatlash bizning katta ustunligimizdir.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2926080" cy="329184"/>
          </a:xfrm>
          <a:prstGeom prst="roundRect">
            <a:avLst/>
          </a:prstGeom>
          <a:solidFill>
            <a:srgbClr val="E0F2FE"/>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latin typeface="Segoe UI"/>
              </a:defRPr>
            </a:pPr>
            <a:r>
              <a:t>10. NATIJA VA HARAKAT</a:t>
            </a:r>
          </a:p>
        </p:txBody>
      </p:sp>
      <p:sp>
        <p:nvSpPr>
          <p:cNvPr id="5" name="TextBox 4"/>
          <p:cNvSpPr txBox="1"/>
          <p:nvPr/>
        </p:nvSpPr>
        <p:spPr>
          <a:xfrm>
            <a:off x="731520" y="868680"/>
            <a:ext cx="10728655" cy="914400"/>
          </a:xfrm>
          <a:prstGeom prst="rect">
            <a:avLst/>
          </a:prstGeom>
          <a:noFill/>
        </p:spPr>
        <p:txBody>
          <a:bodyPr wrap="square" lIns="0" rIns="0" tIns="0" bIns="0">
            <a:spAutoFit/>
          </a:bodyPr>
          <a:lstStyle/>
          <a:p>
            <a:pPr>
              <a:defRPr sz="2200" b="1">
                <a:solidFill>
                  <a:srgbClr val="0F172A"/>
                </a:solidFill>
                <a:latin typeface="Segoe UI"/>
              </a:defRPr>
            </a:pPr>
            <a:r>
              <a:t>Xulosa: Bugundan Boshlab Har Bir Do'konga E-Code O'rnatamiz!</a:t>
            </a:r>
          </a:p>
          <a:p>
            <a:pPr>
              <a:spcBef>
                <a:spcPts val="400"/>
              </a:spcBef>
              <a:defRPr sz="1200">
                <a:solidFill>
                  <a:srgbClr val="475569"/>
                </a:solidFill>
                <a:latin typeface="Segoe UI"/>
              </a:defRPr>
            </a:pPr>
            <a:r>
              <a:t>Biznes egalariga tartib va xotirjamlik, savdo agentlariga esa barqaror va yuqori daromad:</a:t>
            </a:r>
          </a:p>
        </p:txBody>
      </p:sp>
      <p:sp>
        <p:nvSpPr>
          <p:cNvPr id="6" name="Rounded Rectangle 5"/>
          <p:cNvSpPr/>
          <p:nvPr/>
        </p:nvSpPr>
        <p:spPr>
          <a:xfrm>
            <a:off x="731520" y="1920240"/>
            <a:ext cx="3413455" cy="34747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284C7"/>
                </a:solidFill>
                <a:latin typeface="Segoe UI"/>
              </a:defRPr>
            </a:pPr>
            <a:r>
              <a:t>🎯 Biznes Egalari Uchun</a:t>
            </a:r>
          </a:p>
          <a:p>
            <a:pPr>
              <a:spcBef>
                <a:spcPts val="800"/>
              </a:spcBef>
              <a:defRPr sz="1000">
                <a:solidFill>
                  <a:srgbClr val="0F172A"/>
                </a:solidFill>
                <a:latin typeface="Segoe UI"/>
              </a:defRPr>
            </a:pPr>
            <a:r>
              <a:t>• 0 so'mlik o'g'rilik va kamomad</a:t>
            </a:r>
            <a:br/>
            <a:r>
              <a:t>• Nasiyalar 100% daftardan tizimga</a:t>
            </a:r>
            <a:br/>
            <a:r>
              <a:t>• Telefondan kunlik tushum va foyda</a:t>
            </a:r>
            <a:br/>
            <a:r>
              <a:t>• Ishonchli va xavfsiz boshqaruv</a:t>
            </a:r>
          </a:p>
        </p:txBody>
      </p:sp>
      <p:sp>
        <p:nvSpPr>
          <p:cNvPr id="7" name="Rounded Rectangle 6"/>
          <p:cNvSpPr/>
          <p:nvPr/>
        </p:nvSpPr>
        <p:spPr>
          <a:xfrm>
            <a:off x="4389120" y="1920240"/>
            <a:ext cx="3413455" cy="34747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284C7"/>
                </a:solidFill>
                <a:latin typeface="Segoe UI"/>
              </a:defRPr>
            </a:pPr>
            <a:r>
              <a:t>💰 Savdo Agentlari Uchun</a:t>
            </a:r>
          </a:p>
          <a:p>
            <a:pPr>
              <a:spcBef>
                <a:spcPts val="800"/>
              </a:spcBef>
              <a:defRPr sz="1000">
                <a:solidFill>
                  <a:srgbClr val="0F172A"/>
                </a:solidFill>
                <a:latin typeface="Segoe UI"/>
              </a:defRPr>
            </a:pPr>
            <a:r>
              <a:t>• Oson sotiladigan xalqchil narxlar</a:t>
            </a:r>
            <a:br/>
            <a:r>
              <a:t>• 7 kunlik bepul test bilan oson kirish</a:t>
            </a:r>
            <a:br/>
            <a:r>
              <a:t>• Har bir ulangan do'kondan doimiy bonus</a:t>
            </a:r>
            <a:br/>
            <a:r>
              <a:t>• Kuchli mobil ilova va texnik yordam</a:t>
            </a:r>
          </a:p>
        </p:txBody>
      </p:sp>
      <p:sp>
        <p:nvSpPr>
          <p:cNvPr id="8" name="Rounded Rectangle 7"/>
          <p:cNvSpPr/>
          <p:nvPr/>
        </p:nvSpPr>
        <p:spPr>
          <a:xfrm>
            <a:off x="8046720" y="1920240"/>
            <a:ext cx="3413455" cy="34747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0284C7"/>
                </a:solidFill>
                <a:latin typeface="Segoe UI"/>
              </a:defRPr>
            </a:pPr>
            <a:r>
              <a:t>🚀 Bugungi Reja</a:t>
            </a:r>
          </a:p>
          <a:p>
            <a:pPr>
              <a:spcBef>
                <a:spcPts val="800"/>
              </a:spcBef>
              <a:defRPr sz="1000">
                <a:solidFill>
                  <a:srgbClr val="0F172A"/>
                </a:solidFill>
                <a:latin typeface="Segoe UI"/>
              </a:defRPr>
            </a:pPr>
            <a:r>
              <a:t>1. O'z telefoningizga demo ilovani o'rnating</a:t>
            </a:r>
            <a:br/>
            <a:r>
              <a:t>2. Bugun kamida 10 ta yangi do'konga kiring</a:t>
            </a:r>
            <a:br/>
            <a:r>
              <a:t>3. Kamida 3 ta do'konga bepul test yoqib bering</a:t>
            </a:r>
            <a:br/>
            <a:r>
              <a:t>4. Har bir mijozni tizimning doimiy a'zosiga aylantiring</a:t>
            </a:r>
          </a:p>
        </p:txBody>
      </p:sp>
      <p:sp>
        <p:nvSpPr>
          <p:cNvPr id="9" name="Rounded Rectangle 8"/>
          <p:cNvSpPr/>
          <p:nvPr/>
        </p:nvSpPr>
        <p:spPr>
          <a:xfrm>
            <a:off x="731520" y="5623560"/>
            <a:ext cx="10728655" cy="8229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Segoe UI"/>
              </a:defRPr>
            </a:pPr>
            <a:r>
              <a:t>E-CODE ERP BILAN BIZNESLARNI BIRGALIKDA RIVOJLANTIRAMIZ!</a:t>
            </a:r>
          </a:p>
          <a:p>
            <a:pPr algn="ctr">
              <a:spcBef>
                <a:spcPts val="200"/>
              </a:spcBef>
              <a:defRPr sz="1050">
                <a:solidFill>
                  <a:srgbClr val="E0F2FE"/>
                </a:solidFill>
                <a:latin typeface="Segoe UI"/>
              </a:defRPr>
            </a:pPr>
            <a:r>
              <a:t>Veb-sayt: e-code.uz  |  Qo'llab-quvvatlash: 7/24  |  Mobil ilova: E-Code Agent APK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